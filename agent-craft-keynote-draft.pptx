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Full Sparkle Bureaucracy app-shell visual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Bubbles origin placeholders. Replace image windows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Bubbles app surfaces. Placeholder images for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pivot in modal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Bubbles architecture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thesis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to system swap.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of the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 stop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God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Fixing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Nick chief of staff.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Operationalise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 stop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 washing intake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Asana to Jira bridge.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 stop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 City ledger.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Mirror methodology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handoff is an assumption.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Bubbles epilogue with Slack placeholder.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you should be 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Sparkle Bureaucracy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pic>
        <p:nvPicPr>
          <p:cNvPr id="395" name="Image 0" descr="/Users/fatimasarahkhalid/Sites/_keynotes/agent-craft-2026/deck/assets/raw/agentcraft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616" y="832104"/>
            <a:ext cx="3017520" cy="804672"/>
          </a:xfrm>
          <a:prstGeom prst="rect">
            <a:avLst/>
          </a:prstGeom>
        </p:spPr>
      </p:pic>
      <p:sp>
        <p:nvSpPr>
          <p:cNvPr id="396" name="Shape 392"/>
          <p:cNvSpPr/>
          <p:nvPr/>
        </p:nvSpPr>
        <p:spPr>
          <a:xfrm rot="-60000">
            <a:off x="8092440" y="914400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2DD4BF">
              <a:alpha val="16000"/>
            </a:srgbClr>
          </a:solidFill>
          <a:ln w="12700">
            <a:solidFill>
              <a:srgbClr val="2DD4BF">
                <a:alpha val="88000"/>
              </a:srgbClr>
            </a:solidFill>
            <a:prstDash val="solid"/>
          </a:ln>
        </p:spPr>
      </p:sp>
      <p:sp>
        <p:nvSpPr>
          <p:cNvPr id="397" name="Text 393"/>
          <p:cNvSpPr/>
          <p:nvPr/>
        </p:nvSpPr>
        <p:spPr>
          <a:xfrm rot="-60000">
            <a:off x="8183880" y="1051560"/>
            <a:ext cx="219456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OFFICIAL RESEARCH PROTOTYPE *</a:t>
            </a:r>
            <a:endParaRPr lang="en-US" sz="600" dirty="0"/>
          </a:p>
        </p:txBody>
      </p:sp>
      <p:sp>
        <p:nvSpPr>
          <p:cNvPr id="398" name="Text 394"/>
          <p:cNvSpPr/>
          <p:nvPr/>
        </p:nvSpPr>
        <p:spPr>
          <a:xfrm>
            <a:off x="1572768" y="1993392"/>
            <a:ext cx="5303520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Hype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Real.</a:t>
            </a:r>
            <a:endParaRPr lang="en-US" sz="3400" dirty="0"/>
          </a:p>
        </p:txBody>
      </p:sp>
      <p:sp>
        <p:nvSpPr>
          <p:cNvPr id="399" name="Text 395"/>
          <p:cNvSpPr/>
          <p:nvPr/>
        </p:nvSpPr>
        <p:spPr>
          <a:xfrm>
            <a:off x="1572768" y="3200400"/>
            <a:ext cx="53949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Is the Mess.</a:t>
            </a:r>
            <a:endParaRPr lang="en-US" sz="3400" dirty="0"/>
          </a:p>
        </p:txBody>
      </p:sp>
      <p:sp>
        <p:nvSpPr>
          <p:cNvPr id="400" name="Shape 396"/>
          <p:cNvSpPr/>
          <p:nvPr/>
        </p:nvSpPr>
        <p:spPr>
          <a:xfrm>
            <a:off x="1591056" y="4297680"/>
            <a:ext cx="5394960" cy="566928"/>
          </a:xfrm>
          <a:prstGeom prst="roundRect">
            <a:avLst>
              <a:gd name="adj" fmla="val 645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01" name="Text 397"/>
          <p:cNvSpPr/>
          <p:nvPr/>
        </p:nvSpPr>
        <p:spPr>
          <a:xfrm>
            <a:off x="1755648" y="4498848"/>
            <a:ext cx="96012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</a:t>
            </a:r>
            <a:endParaRPr lang="en-US" sz="660" dirty="0"/>
          </a:p>
        </p:txBody>
      </p:sp>
      <p:sp>
        <p:nvSpPr>
          <p:cNvPr id="402" name="Text 398"/>
          <p:cNvSpPr/>
          <p:nvPr/>
        </p:nvSpPr>
        <p:spPr>
          <a:xfrm>
            <a:off x="2871216" y="4425696"/>
            <a:ext cx="3886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field report from the chaos of agent systems</a:t>
            </a:r>
            <a:endParaRPr lang="en-US" sz="1250" dirty="0"/>
          </a:p>
        </p:txBody>
      </p:sp>
      <p:sp>
        <p:nvSpPr>
          <p:cNvPr id="403" name="Shape 399"/>
          <p:cNvSpPr/>
          <p:nvPr/>
        </p:nvSpPr>
        <p:spPr>
          <a:xfrm>
            <a:off x="7543800" y="1600200"/>
            <a:ext cx="3246120" cy="2926080"/>
          </a:xfrm>
          <a:prstGeom prst="roundRect">
            <a:avLst>
              <a:gd name="adj" fmla="val 1875"/>
            </a:avLst>
          </a:prstGeom>
          <a:solidFill>
            <a:srgbClr val="12183A"/>
          </a:solidFill>
          <a:ln w="12700">
            <a:solidFill>
              <a:srgbClr val="EC4899">
                <a:alpha val="5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404" name="Shape 400"/>
          <p:cNvSpPr/>
          <p:nvPr/>
        </p:nvSpPr>
        <p:spPr>
          <a:xfrm>
            <a:off x="7543800" y="1600200"/>
            <a:ext cx="324612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05" name="Text 401"/>
          <p:cNvSpPr/>
          <p:nvPr/>
        </p:nvSpPr>
        <p:spPr>
          <a:xfrm>
            <a:off x="7708392" y="1719072"/>
            <a:ext cx="260604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window</a:t>
            </a:r>
            <a:endParaRPr lang="en-US" sz="680" dirty="0"/>
          </a:p>
        </p:txBody>
      </p:sp>
      <p:sp>
        <p:nvSpPr>
          <p:cNvPr id="406" name="Shape 402"/>
          <p:cNvSpPr/>
          <p:nvPr/>
        </p:nvSpPr>
        <p:spPr>
          <a:xfrm>
            <a:off x="10387584" y="1737360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07" name="Shape 403"/>
          <p:cNvSpPr/>
          <p:nvPr/>
        </p:nvSpPr>
        <p:spPr>
          <a:xfrm>
            <a:off x="10506456" y="1737360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08" name="Shape 404"/>
          <p:cNvSpPr/>
          <p:nvPr/>
        </p:nvSpPr>
        <p:spPr>
          <a:xfrm>
            <a:off x="10625328" y="1737360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pic>
        <p:nvPicPr>
          <p:cNvPr id="409" name="Image 1" descr="/Users/fatimasarahkhalid/Sites/_keynotes/agent-craft-2026/deck/assets/placeholders/openclaw-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92013"/>
            <a:ext cx="2971800" cy="1671638"/>
          </a:xfrm>
          <a:prstGeom prst="rect">
            <a:avLst/>
          </a:prstGeom>
        </p:spPr>
      </p:pic>
      <p:sp>
        <p:nvSpPr>
          <p:cNvPr id="410" name="Shape 405"/>
          <p:cNvSpPr/>
          <p:nvPr/>
        </p:nvSpPr>
        <p:spPr>
          <a:xfrm>
            <a:off x="7799832" y="4123944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EC4899">
              <a:alpha val="14000"/>
            </a:srgbClr>
          </a:solidFill>
          <a:ln w="12700">
            <a:solidFill>
              <a:srgbClr val="EC4899">
                <a:alpha val="65000"/>
              </a:srgbClr>
            </a:solidFill>
            <a:prstDash val="solid"/>
          </a:ln>
        </p:spPr>
      </p:sp>
      <p:sp>
        <p:nvSpPr>
          <p:cNvPr id="411" name="Text 406"/>
          <p:cNvSpPr/>
          <p:nvPr/>
        </p:nvSpPr>
        <p:spPr>
          <a:xfrm>
            <a:off x="7872984" y="4229100"/>
            <a:ext cx="1088136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IMAGE</a:t>
            </a:r>
            <a:endParaRPr lang="en-US" sz="550" dirty="0"/>
          </a:p>
        </p:txBody>
      </p:sp>
      <p:pic>
        <p:nvPicPr>
          <p:cNvPr id="412" name="Image 2" descr="/Users/fatimasarahkhalid/Sites/_keynotes/agent-craft-2026/deck/assets/generated/ai-for-the-rest-of-us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3140" y="6272784"/>
            <a:ext cx="997527" cy="384048"/>
          </a:xfrm>
          <a:prstGeom prst="rect">
            <a:avLst/>
          </a:prstGeom>
        </p:spPr>
      </p:pic>
      <p:pic>
        <p:nvPicPr>
          <p:cNvPr id="413" name="Image 3" descr="/Users/fatimasarahkhalid/Sites/_keynotes/agent-craft-2026/deck/assets/raw/brainstation-str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6496" y="6435921"/>
            <a:ext cx="786384" cy="1309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822960"/>
            <a:ext cx="88696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first agent had a pen pal.</a:t>
            </a:r>
            <a:endParaRPr lang="en-US" sz="2800" dirty="0"/>
          </a:p>
        </p:txBody>
      </p:sp>
      <p:sp>
        <p:nvSpPr>
          <p:cNvPr id="396" name="Shape 393"/>
          <p:cNvSpPr/>
          <p:nvPr/>
        </p:nvSpPr>
        <p:spPr>
          <a:xfrm>
            <a:off x="1536192" y="1554480"/>
            <a:ext cx="16916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1600200" y="1719072"/>
            <a:ext cx="3154680" cy="3337560"/>
          </a:xfrm>
          <a:prstGeom prst="roundRect">
            <a:avLst>
              <a:gd name="adj" fmla="val 1739"/>
            </a:avLst>
          </a:prstGeom>
          <a:solidFill>
            <a:srgbClr val="12183A"/>
          </a:solidFill>
          <a:ln w="12700">
            <a:solidFill>
              <a:srgbClr val="2DD4BF">
                <a:alpha val="5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398" name="Shape 395"/>
          <p:cNvSpPr/>
          <p:nvPr/>
        </p:nvSpPr>
        <p:spPr>
          <a:xfrm>
            <a:off x="1600200" y="1719072"/>
            <a:ext cx="315468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399" name="Text 396"/>
          <p:cNvSpPr/>
          <p:nvPr/>
        </p:nvSpPr>
        <p:spPr>
          <a:xfrm>
            <a:off x="1764792" y="1837944"/>
            <a:ext cx="251460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/ Bubbles</a:t>
            </a:r>
            <a:endParaRPr lang="en-US" sz="680" dirty="0"/>
          </a:p>
        </p:txBody>
      </p:sp>
      <p:sp>
        <p:nvSpPr>
          <p:cNvPr id="400" name="Shape 397"/>
          <p:cNvSpPr/>
          <p:nvPr/>
        </p:nvSpPr>
        <p:spPr>
          <a:xfrm>
            <a:off x="4352544" y="1856232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01" name="Shape 398"/>
          <p:cNvSpPr/>
          <p:nvPr/>
        </p:nvSpPr>
        <p:spPr>
          <a:xfrm>
            <a:off x="4471416" y="1856232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02" name="Shape 399"/>
          <p:cNvSpPr/>
          <p:nvPr/>
        </p:nvSpPr>
        <p:spPr>
          <a:xfrm>
            <a:off x="4590288" y="1856232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pic>
        <p:nvPicPr>
          <p:cNvPr id="403" name="Image 0" descr="/Users/fatimasarahkhalid/Sites/_keynotes/agent-craft-2026/deck/assets/placeholders/openclaw-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742343"/>
            <a:ext cx="2880360" cy="1620203"/>
          </a:xfrm>
          <a:prstGeom prst="rect">
            <a:avLst/>
          </a:prstGeom>
        </p:spPr>
      </p:pic>
      <p:sp>
        <p:nvSpPr>
          <p:cNvPr id="404" name="Shape 400"/>
          <p:cNvSpPr/>
          <p:nvPr/>
        </p:nvSpPr>
        <p:spPr>
          <a:xfrm>
            <a:off x="1856232" y="4654296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2DD4BF">
              <a:alpha val="14000"/>
            </a:srgbClr>
          </a:solidFill>
          <a:ln w="12700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405" name="Text 401"/>
          <p:cNvSpPr/>
          <p:nvPr/>
        </p:nvSpPr>
        <p:spPr>
          <a:xfrm>
            <a:off x="1929384" y="4759452"/>
            <a:ext cx="1088136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IMAGE</a:t>
            </a:r>
            <a:endParaRPr lang="en-US" sz="550" dirty="0"/>
          </a:p>
        </p:txBody>
      </p:sp>
      <p:sp>
        <p:nvSpPr>
          <p:cNvPr id="406" name="Shape 402"/>
          <p:cNvSpPr/>
          <p:nvPr/>
        </p:nvSpPr>
        <p:spPr>
          <a:xfrm>
            <a:off x="5074920" y="1719072"/>
            <a:ext cx="3154680" cy="3337560"/>
          </a:xfrm>
          <a:prstGeom prst="roundRect">
            <a:avLst>
              <a:gd name="adj" fmla="val 1739"/>
            </a:avLst>
          </a:prstGeom>
          <a:solidFill>
            <a:srgbClr val="12183A"/>
          </a:solidFill>
          <a:ln w="12700">
            <a:solidFill>
              <a:srgbClr val="EC4899">
                <a:alpha val="5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407" name="Shape 403"/>
          <p:cNvSpPr/>
          <p:nvPr/>
        </p:nvSpPr>
        <p:spPr>
          <a:xfrm>
            <a:off x="5074920" y="1719072"/>
            <a:ext cx="315468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08" name="Text 404"/>
          <p:cNvSpPr/>
          <p:nvPr/>
        </p:nvSpPr>
        <p:spPr>
          <a:xfrm>
            <a:off x="5239512" y="1837944"/>
            <a:ext cx="251460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Shellmates / XiaoZhu</a:t>
            </a:r>
            <a:endParaRPr lang="en-US" sz="680" dirty="0"/>
          </a:p>
        </p:txBody>
      </p:sp>
      <p:sp>
        <p:nvSpPr>
          <p:cNvPr id="409" name="Shape 405"/>
          <p:cNvSpPr/>
          <p:nvPr/>
        </p:nvSpPr>
        <p:spPr>
          <a:xfrm>
            <a:off x="7827264" y="1856232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10" name="Shape 406"/>
          <p:cNvSpPr/>
          <p:nvPr/>
        </p:nvSpPr>
        <p:spPr>
          <a:xfrm>
            <a:off x="7946136" y="1856232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11" name="Shape 407"/>
          <p:cNvSpPr/>
          <p:nvPr/>
        </p:nvSpPr>
        <p:spPr>
          <a:xfrm>
            <a:off x="8065008" y="1856232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pic>
        <p:nvPicPr>
          <p:cNvPr id="412" name="Image 1" descr="/Users/fatimasarahkhalid/Sites/_keynotes/agent-craft-2026/deck/assets/placeholders/shellma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742343"/>
            <a:ext cx="2880360" cy="1620203"/>
          </a:xfrm>
          <a:prstGeom prst="rect">
            <a:avLst/>
          </a:prstGeom>
        </p:spPr>
      </p:pic>
      <p:sp>
        <p:nvSpPr>
          <p:cNvPr id="413" name="Shape 408"/>
          <p:cNvSpPr/>
          <p:nvPr/>
        </p:nvSpPr>
        <p:spPr>
          <a:xfrm>
            <a:off x="5330952" y="4654296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EC4899">
              <a:alpha val="14000"/>
            </a:srgbClr>
          </a:solidFill>
          <a:ln w="12700">
            <a:solidFill>
              <a:srgbClr val="EC4899">
                <a:alpha val="65000"/>
              </a:srgbClr>
            </a:solidFill>
            <a:prstDash val="solid"/>
          </a:ln>
        </p:spPr>
      </p:sp>
      <p:sp>
        <p:nvSpPr>
          <p:cNvPr id="414" name="Text 409"/>
          <p:cNvSpPr/>
          <p:nvPr/>
        </p:nvSpPr>
        <p:spPr>
          <a:xfrm>
            <a:off x="5404104" y="4759452"/>
            <a:ext cx="1088136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IMAGE</a:t>
            </a:r>
            <a:endParaRPr lang="en-US" sz="550" dirty="0"/>
          </a:p>
        </p:txBody>
      </p:sp>
      <p:sp>
        <p:nvSpPr>
          <p:cNvPr id="415" name="Shape 410"/>
          <p:cNvSpPr/>
          <p:nvPr/>
        </p:nvSpPr>
        <p:spPr>
          <a:xfrm>
            <a:off x="8549640" y="1719072"/>
            <a:ext cx="2377440" cy="3337560"/>
          </a:xfrm>
          <a:prstGeom prst="roundRect">
            <a:avLst>
              <a:gd name="adj" fmla="val 2308"/>
            </a:avLst>
          </a:prstGeom>
          <a:solidFill>
            <a:srgbClr val="12183A"/>
          </a:solidFill>
          <a:ln w="12700">
            <a:solidFill>
              <a:srgbClr val="FACC15">
                <a:alpha val="2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416" name="Shape 411"/>
          <p:cNvSpPr/>
          <p:nvPr/>
        </p:nvSpPr>
        <p:spPr>
          <a:xfrm>
            <a:off x="8549640" y="1719072"/>
            <a:ext cx="237744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17" name="Text 412"/>
          <p:cNvSpPr/>
          <p:nvPr/>
        </p:nvSpPr>
        <p:spPr>
          <a:xfrm>
            <a:off x="8714232" y="1837944"/>
            <a:ext cx="173736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notes</a:t>
            </a:r>
            <a:endParaRPr lang="en-US" sz="680" dirty="0"/>
          </a:p>
        </p:txBody>
      </p:sp>
      <p:sp>
        <p:nvSpPr>
          <p:cNvPr id="418" name="Shape 413"/>
          <p:cNvSpPr/>
          <p:nvPr/>
        </p:nvSpPr>
        <p:spPr>
          <a:xfrm>
            <a:off x="10524744" y="1856232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19" name="Shape 414"/>
          <p:cNvSpPr/>
          <p:nvPr/>
        </p:nvSpPr>
        <p:spPr>
          <a:xfrm>
            <a:off x="10643616" y="1856232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20" name="Shape 415"/>
          <p:cNvSpPr/>
          <p:nvPr/>
        </p:nvSpPr>
        <p:spPr>
          <a:xfrm>
            <a:off x="10762488" y="1856232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sp>
        <p:nvSpPr>
          <p:cNvPr id="421" name="Text 416"/>
          <p:cNvSpPr/>
          <p:nvPr/>
        </p:nvSpPr>
        <p:spPr>
          <a:xfrm>
            <a:off x="8778240" y="2377440"/>
            <a:ext cx="19202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continuity</a:t>
            </a:r>
            <a:endParaRPr lang="en-US" sz="1320" dirty="0"/>
          </a:p>
          <a:p>
            <a:pPr algn="l" indent="0" marL="0">
              <a:buNone/>
            </a:pPr>
            <a:r>
              <a:rPr lang="en-US" sz="132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letters a day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XiaoZhu asked Bubbles for crypto</a:t>
            </a:r>
            <a:endParaRPr lang="en-US" sz="1320" dirty="0"/>
          </a:p>
        </p:txBody>
      </p:sp>
      <p:sp>
        <p:nvSpPr>
          <p:cNvPr id="422" name="Shape 417"/>
          <p:cNvSpPr/>
          <p:nvPr/>
        </p:nvSpPr>
        <p:spPr>
          <a:xfrm>
            <a:off x="8942832" y="4572000"/>
            <a:ext cx="1600200" cy="310896"/>
          </a:xfrm>
          <a:prstGeom prst="roundRect">
            <a:avLst>
              <a:gd name="adj" fmla="val 35294"/>
            </a:avLst>
          </a:prstGeom>
          <a:solidFill>
            <a:srgbClr val="FACC15">
              <a:alpha val="14000"/>
            </a:srgbClr>
          </a:solidFill>
          <a:ln w="12700">
            <a:solidFill>
              <a:srgbClr val="FACC15">
                <a:alpha val="65000"/>
              </a:srgbClr>
            </a:solidFill>
            <a:prstDash val="solid"/>
          </a:ln>
        </p:spPr>
      </p:sp>
      <p:sp>
        <p:nvSpPr>
          <p:cNvPr id="423" name="Text 418"/>
          <p:cNvSpPr/>
          <p:nvPr/>
        </p:nvSpPr>
        <p:spPr>
          <a:xfrm>
            <a:off x="9015984" y="4677156"/>
            <a:ext cx="1453896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WITH SCREENSHOTS</a:t>
            </a:r>
            <a:endParaRPr lang="en-US" sz="580" dirty="0"/>
          </a:p>
        </p:txBody>
      </p:sp>
      <p:sp>
        <p:nvSpPr>
          <p:cNvPr id="424" name="Text 419"/>
          <p:cNvSpPr/>
          <p:nvPr/>
        </p:nvSpPr>
        <p:spPr>
          <a:xfrm>
            <a:off x="1499616" y="6556248"/>
            <a:ext cx="548640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PLACEHOLDER: Bubbles/OpenClaw/Shellmates screenshots.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822960"/>
            <a:ext cx="88696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spirit of token-maxxing, I sent her everywhere.</a:t>
            </a:r>
            <a:endParaRPr lang="en-US" sz="2800" dirty="0"/>
          </a:p>
        </p:txBody>
      </p:sp>
      <p:sp>
        <p:nvSpPr>
          <p:cNvPr id="396" name="Shape 393"/>
          <p:cNvSpPr/>
          <p:nvPr/>
        </p:nvSpPr>
        <p:spPr>
          <a:xfrm>
            <a:off x="1536192" y="1554480"/>
            <a:ext cx="16916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1572768" y="1828800"/>
            <a:ext cx="2176272" cy="3246120"/>
          </a:xfrm>
          <a:prstGeom prst="roundRect">
            <a:avLst>
              <a:gd name="adj" fmla="val 2521"/>
            </a:avLst>
          </a:prstGeom>
          <a:solidFill>
            <a:srgbClr val="12183A"/>
          </a:solidFill>
          <a:ln w="12700">
            <a:solidFill>
              <a:srgbClr val="EC4899">
                <a:alpha val="5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398" name="Shape 395"/>
          <p:cNvSpPr/>
          <p:nvPr/>
        </p:nvSpPr>
        <p:spPr>
          <a:xfrm>
            <a:off x="1572768" y="1828800"/>
            <a:ext cx="2176272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399" name="Text 396"/>
          <p:cNvSpPr/>
          <p:nvPr/>
        </p:nvSpPr>
        <p:spPr>
          <a:xfrm>
            <a:off x="1737360" y="1947672"/>
            <a:ext cx="1536192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Instaclaw</a:t>
            </a:r>
            <a:endParaRPr lang="en-US" sz="680" dirty="0"/>
          </a:p>
        </p:txBody>
      </p:sp>
      <p:sp>
        <p:nvSpPr>
          <p:cNvPr id="400" name="Shape 397"/>
          <p:cNvSpPr/>
          <p:nvPr/>
        </p:nvSpPr>
        <p:spPr>
          <a:xfrm>
            <a:off x="3346704" y="1965960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01" name="Shape 398"/>
          <p:cNvSpPr/>
          <p:nvPr/>
        </p:nvSpPr>
        <p:spPr>
          <a:xfrm>
            <a:off x="3465576" y="1965960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02" name="Shape 399"/>
          <p:cNvSpPr/>
          <p:nvPr/>
        </p:nvSpPr>
        <p:spPr>
          <a:xfrm>
            <a:off x="3584448" y="1965960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pic>
        <p:nvPicPr>
          <p:cNvPr id="403" name="Image 0" descr="/Users/fatimasarahkhalid/Sites/_keynotes/agent-craft-2026/deck/assets/placeholders/instacl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2427732"/>
            <a:ext cx="1901952" cy="2377440"/>
          </a:xfrm>
          <a:prstGeom prst="rect">
            <a:avLst/>
          </a:prstGeom>
        </p:spPr>
      </p:pic>
      <p:sp>
        <p:nvSpPr>
          <p:cNvPr id="404" name="Shape 400"/>
          <p:cNvSpPr/>
          <p:nvPr/>
        </p:nvSpPr>
        <p:spPr>
          <a:xfrm>
            <a:off x="1828800" y="4672584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EC4899">
              <a:alpha val="14000"/>
            </a:srgbClr>
          </a:solidFill>
          <a:ln w="12700">
            <a:solidFill>
              <a:srgbClr val="EC4899">
                <a:alpha val="65000"/>
              </a:srgbClr>
            </a:solidFill>
            <a:prstDash val="solid"/>
          </a:ln>
        </p:spPr>
      </p:sp>
      <p:sp>
        <p:nvSpPr>
          <p:cNvPr id="405" name="Text 401"/>
          <p:cNvSpPr/>
          <p:nvPr/>
        </p:nvSpPr>
        <p:spPr>
          <a:xfrm>
            <a:off x="1901952" y="4777740"/>
            <a:ext cx="1088136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IMAGE</a:t>
            </a:r>
            <a:endParaRPr lang="en-US" sz="550" dirty="0"/>
          </a:p>
        </p:txBody>
      </p:sp>
      <p:sp>
        <p:nvSpPr>
          <p:cNvPr id="406" name="Shape 402"/>
          <p:cNvSpPr/>
          <p:nvPr/>
        </p:nvSpPr>
        <p:spPr>
          <a:xfrm>
            <a:off x="4133088" y="1828800"/>
            <a:ext cx="2176272" cy="3246120"/>
          </a:xfrm>
          <a:prstGeom prst="roundRect">
            <a:avLst>
              <a:gd name="adj" fmla="val 2521"/>
            </a:avLst>
          </a:prstGeom>
          <a:solidFill>
            <a:srgbClr val="12183A"/>
          </a:solidFill>
          <a:ln w="12700">
            <a:solidFill>
              <a:srgbClr val="2DD4BF">
                <a:alpha val="5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407" name="Shape 403"/>
          <p:cNvSpPr/>
          <p:nvPr/>
        </p:nvSpPr>
        <p:spPr>
          <a:xfrm>
            <a:off x="4133088" y="1828800"/>
            <a:ext cx="2176272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08" name="Text 404"/>
          <p:cNvSpPr/>
          <p:nvPr/>
        </p:nvSpPr>
        <p:spPr>
          <a:xfrm>
            <a:off x="4297680" y="1947672"/>
            <a:ext cx="1536192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Shellmates</a:t>
            </a:r>
            <a:endParaRPr lang="en-US" sz="680" dirty="0"/>
          </a:p>
        </p:txBody>
      </p:sp>
      <p:sp>
        <p:nvSpPr>
          <p:cNvPr id="409" name="Shape 405"/>
          <p:cNvSpPr/>
          <p:nvPr/>
        </p:nvSpPr>
        <p:spPr>
          <a:xfrm>
            <a:off x="5907024" y="1965960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10" name="Shape 406"/>
          <p:cNvSpPr/>
          <p:nvPr/>
        </p:nvSpPr>
        <p:spPr>
          <a:xfrm>
            <a:off x="6025896" y="1965960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11" name="Shape 407"/>
          <p:cNvSpPr/>
          <p:nvPr/>
        </p:nvSpPr>
        <p:spPr>
          <a:xfrm>
            <a:off x="6144768" y="1965960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pic>
        <p:nvPicPr>
          <p:cNvPr id="412" name="Image 1" descr="/Users/fatimasarahkhalid/Sites/_keynotes/agent-craft-2026/deck/assets/placeholders/shellma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3081528"/>
            <a:ext cx="1901952" cy="1069848"/>
          </a:xfrm>
          <a:prstGeom prst="rect">
            <a:avLst/>
          </a:prstGeom>
        </p:spPr>
      </p:pic>
      <p:sp>
        <p:nvSpPr>
          <p:cNvPr id="413" name="Shape 408"/>
          <p:cNvSpPr/>
          <p:nvPr/>
        </p:nvSpPr>
        <p:spPr>
          <a:xfrm>
            <a:off x="4389120" y="4672584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2DD4BF">
              <a:alpha val="14000"/>
            </a:srgbClr>
          </a:solidFill>
          <a:ln w="12700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414" name="Text 409"/>
          <p:cNvSpPr/>
          <p:nvPr/>
        </p:nvSpPr>
        <p:spPr>
          <a:xfrm>
            <a:off x="4462272" y="4777740"/>
            <a:ext cx="1088136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IMAGE</a:t>
            </a:r>
            <a:endParaRPr lang="en-US" sz="550" dirty="0"/>
          </a:p>
        </p:txBody>
      </p:sp>
      <p:sp>
        <p:nvSpPr>
          <p:cNvPr id="415" name="Shape 410"/>
          <p:cNvSpPr/>
          <p:nvPr/>
        </p:nvSpPr>
        <p:spPr>
          <a:xfrm>
            <a:off x="6693408" y="1828800"/>
            <a:ext cx="2176272" cy="3246120"/>
          </a:xfrm>
          <a:prstGeom prst="roundRect">
            <a:avLst>
              <a:gd name="adj" fmla="val 2521"/>
            </a:avLst>
          </a:prstGeom>
          <a:solidFill>
            <a:srgbClr val="12183A"/>
          </a:solidFill>
          <a:ln w="12700">
            <a:solidFill>
              <a:srgbClr val="FACC15">
                <a:alpha val="5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416" name="Shape 411"/>
          <p:cNvSpPr/>
          <p:nvPr/>
        </p:nvSpPr>
        <p:spPr>
          <a:xfrm>
            <a:off x="6693408" y="1828800"/>
            <a:ext cx="2176272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17" name="Text 412"/>
          <p:cNvSpPr/>
          <p:nvPr/>
        </p:nvSpPr>
        <p:spPr>
          <a:xfrm>
            <a:off x="6858000" y="1947672"/>
            <a:ext cx="1536192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Debate arena</a:t>
            </a:r>
            <a:endParaRPr lang="en-US" sz="680" dirty="0"/>
          </a:p>
        </p:txBody>
      </p:sp>
      <p:sp>
        <p:nvSpPr>
          <p:cNvPr id="418" name="Shape 413"/>
          <p:cNvSpPr/>
          <p:nvPr/>
        </p:nvSpPr>
        <p:spPr>
          <a:xfrm>
            <a:off x="8467344" y="1965960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19" name="Shape 414"/>
          <p:cNvSpPr/>
          <p:nvPr/>
        </p:nvSpPr>
        <p:spPr>
          <a:xfrm>
            <a:off x="8586216" y="1965960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20" name="Shape 415"/>
          <p:cNvSpPr/>
          <p:nvPr/>
        </p:nvSpPr>
        <p:spPr>
          <a:xfrm>
            <a:off x="8705088" y="1965960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pic>
        <p:nvPicPr>
          <p:cNvPr id="421" name="Image 2" descr="/Users/fatimasarahkhalid/Sites/_keynotes/agent-craft-2026/deck/assets/placeholders/debate-aren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2427732"/>
            <a:ext cx="1901952" cy="2377440"/>
          </a:xfrm>
          <a:prstGeom prst="rect">
            <a:avLst/>
          </a:prstGeom>
        </p:spPr>
      </p:pic>
      <p:sp>
        <p:nvSpPr>
          <p:cNvPr id="422" name="Shape 416"/>
          <p:cNvSpPr/>
          <p:nvPr/>
        </p:nvSpPr>
        <p:spPr>
          <a:xfrm>
            <a:off x="6949440" y="4672584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FACC15">
              <a:alpha val="14000"/>
            </a:srgbClr>
          </a:solidFill>
          <a:ln w="12700">
            <a:solidFill>
              <a:srgbClr val="FACC15">
                <a:alpha val="65000"/>
              </a:srgbClr>
            </a:solidFill>
            <a:prstDash val="solid"/>
          </a:ln>
        </p:spPr>
      </p:sp>
      <p:sp>
        <p:nvSpPr>
          <p:cNvPr id="423" name="Text 417"/>
          <p:cNvSpPr/>
          <p:nvPr/>
        </p:nvSpPr>
        <p:spPr>
          <a:xfrm>
            <a:off x="7022592" y="4777740"/>
            <a:ext cx="1088136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IMAGE</a:t>
            </a:r>
            <a:endParaRPr lang="en-US" sz="550" dirty="0"/>
          </a:p>
        </p:txBody>
      </p:sp>
      <p:sp>
        <p:nvSpPr>
          <p:cNvPr id="424" name="Shape 418"/>
          <p:cNvSpPr/>
          <p:nvPr/>
        </p:nvSpPr>
        <p:spPr>
          <a:xfrm>
            <a:off x="9253728" y="1828800"/>
            <a:ext cx="2176272" cy="3246120"/>
          </a:xfrm>
          <a:prstGeom prst="roundRect">
            <a:avLst>
              <a:gd name="adj" fmla="val 2521"/>
            </a:avLst>
          </a:prstGeom>
          <a:solidFill>
            <a:srgbClr val="12183A"/>
          </a:solidFill>
          <a:ln w="12700">
            <a:solidFill>
              <a:srgbClr val="A855F7">
                <a:alpha val="5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425" name="Shape 419"/>
          <p:cNvSpPr/>
          <p:nvPr/>
        </p:nvSpPr>
        <p:spPr>
          <a:xfrm>
            <a:off x="9253728" y="1828800"/>
            <a:ext cx="2176272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26" name="Text 420"/>
          <p:cNvSpPr/>
          <p:nvPr/>
        </p:nvSpPr>
        <p:spPr>
          <a:xfrm>
            <a:off x="9418320" y="1947672"/>
            <a:ext cx="1536192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Hackathons</a:t>
            </a:r>
            <a:endParaRPr lang="en-US" sz="680" dirty="0"/>
          </a:p>
        </p:txBody>
      </p:sp>
      <p:sp>
        <p:nvSpPr>
          <p:cNvPr id="427" name="Shape 421"/>
          <p:cNvSpPr/>
          <p:nvPr/>
        </p:nvSpPr>
        <p:spPr>
          <a:xfrm>
            <a:off x="11027664" y="1965960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28" name="Shape 422"/>
          <p:cNvSpPr/>
          <p:nvPr/>
        </p:nvSpPr>
        <p:spPr>
          <a:xfrm>
            <a:off x="11146536" y="1965960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29" name="Shape 423"/>
          <p:cNvSpPr/>
          <p:nvPr/>
        </p:nvSpPr>
        <p:spPr>
          <a:xfrm>
            <a:off x="11265408" y="1965960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pic>
        <p:nvPicPr>
          <p:cNvPr id="430" name="Image 3" descr="/Users/fatimasarahkhalid/Sites/_keynotes/agent-craft-2026/deck/assets/placeholders/hackath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2427732"/>
            <a:ext cx="1901952" cy="2377440"/>
          </a:xfrm>
          <a:prstGeom prst="rect">
            <a:avLst/>
          </a:prstGeom>
        </p:spPr>
      </p:pic>
      <p:sp>
        <p:nvSpPr>
          <p:cNvPr id="431" name="Shape 424"/>
          <p:cNvSpPr/>
          <p:nvPr/>
        </p:nvSpPr>
        <p:spPr>
          <a:xfrm>
            <a:off x="9509760" y="4672584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65000"/>
              </a:srgbClr>
            </a:solidFill>
            <a:prstDash val="solid"/>
          </a:ln>
        </p:spPr>
      </p:sp>
      <p:sp>
        <p:nvSpPr>
          <p:cNvPr id="432" name="Text 425"/>
          <p:cNvSpPr/>
          <p:nvPr/>
        </p:nvSpPr>
        <p:spPr>
          <a:xfrm>
            <a:off x="9582912" y="4777740"/>
            <a:ext cx="1088136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IMAGE</a:t>
            </a:r>
            <a:endParaRPr lang="en-US" sz="550" dirty="0"/>
          </a:p>
        </p:txBody>
      </p:sp>
      <p:sp>
        <p:nvSpPr>
          <p:cNvPr id="433" name="Shape 426"/>
          <p:cNvSpPr/>
          <p:nvPr/>
        </p:nvSpPr>
        <p:spPr>
          <a:xfrm rot="-60000">
            <a:off x="4297680" y="5486400"/>
            <a:ext cx="3749040" cy="420624"/>
          </a:xfrm>
          <a:prstGeom prst="roundRect">
            <a:avLst>
              <a:gd name="adj" fmla="val 10870"/>
            </a:avLst>
          </a:prstGeom>
          <a:solidFill>
            <a:srgbClr val="EC4899">
              <a:alpha val="16000"/>
            </a:srgbClr>
          </a:solidFill>
          <a:ln w="12700">
            <a:solidFill>
              <a:srgbClr val="EC4899">
                <a:alpha val="88000"/>
              </a:srgbClr>
            </a:solidFill>
            <a:prstDash val="solid"/>
          </a:ln>
        </p:spPr>
      </p:sp>
      <p:sp>
        <p:nvSpPr>
          <p:cNvPr id="434" name="Text 427"/>
          <p:cNvSpPr/>
          <p:nvPr/>
        </p:nvSpPr>
        <p:spPr>
          <a:xfrm rot="-60000">
            <a:off x="4389120" y="5623560"/>
            <a:ext cx="356616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ADORABLE / RIDICULOUS / USEFUL? *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822960"/>
            <a:ext cx="88696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technology can loop on a server all night.</a:t>
            </a:r>
            <a:endParaRPr lang="en-US" sz="2800" dirty="0"/>
          </a:p>
        </p:txBody>
      </p:sp>
      <p:sp>
        <p:nvSpPr>
          <p:cNvPr id="396" name="Shape 393"/>
          <p:cNvSpPr/>
          <p:nvPr/>
        </p:nvSpPr>
        <p:spPr>
          <a:xfrm>
            <a:off x="1536192" y="1554480"/>
            <a:ext cx="16916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Text 394"/>
          <p:cNvSpPr/>
          <p:nvPr/>
        </p:nvSpPr>
        <p:spPr>
          <a:xfrm>
            <a:off x="1591056" y="1847088"/>
            <a:ext cx="53949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AAB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things while I sleep.</a:t>
            </a:r>
            <a:endParaRPr lang="en-US" sz="2200" dirty="0"/>
          </a:p>
        </p:txBody>
      </p:sp>
      <p:sp>
        <p:nvSpPr>
          <p:cNvPr id="398" name="Shape 395"/>
          <p:cNvSpPr/>
          <p:nvPr/>
        </p:nvSpPr>
        <p:spPr>
          <a:xfrm>
            <a:off x="1874520" y="2743200"/>
            <a:ext cx="8595360" cy="2103120"/>
          </a:xfrm>
          <a:prstGeom prst="roundRect">
            <a:avLst>
              <a:gd name="adj" fmla="val 2609"/>
            </a:avLst>
          </a:prstGeom>
          <a:solidFill>
            <a:srgbClr val="12183A"/>
          </a:solidFill>
          <a:ln w="12700">
            <a:solidFill>
              <a:srgbClr val="2DD4BF">
                <a:alpha val="2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399" name="Shape 396"/>
          <p:cNvSpPr/>
          <p:nvPr/>
        </p:nvSpPr>
        <p:spPr>
          <a:xfrm>
            <a:off x="1874520" y="2743200"/>
            <a:ext cx="859536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00" name="Text 397"/>
          <p:cNvSpPr/>
          <p:nvPr/>
        </p:nvSpPr>
        <p:spPr>
          <a:xfrm>
            <a:off x="2039112" y="2862072"/>
            <a:ext cx="795528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field-report-question.modal</a:t>
            </a:r>
            <a:endParaRPr lang="en-US" sz="680" dirty="0"/>
          </a:p>
        </p:txBody>
      </p:sp>
      <p:sp>
        <p:nvSpPr>
          <p:cNvPr id="401" name="Shape 398"/>
          <p:cNvSpPr/>
          <p:nvPr/>
        </p:nvSpPr>
        <p:spPr>
          <a:xfrm>
            <a:off x="10067544" y="2880360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02" name="Shape 399"/>
          <p:cNvSpPr/>
          <p:nvPr/>
        </p:nvSpPr>
        <p:spPr>
          <a:xfrm>
            <a:off x="10186416" y="2880360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03" name="Shape 400"/>
          <p:cNvSpPr/>
          <p:nvPr/>
        </p:nvSpPr>
        <p:spPr>
          <a:xfrm>
            <a:off x="10305288" y="2880360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sp>
        <p:nvSpPr>
          <p:cNvPr id="404" name="Shape 401"/>
          <p:cNvSpPr/>
          <p:nvPr/>
        </p:nvSpPr>
        <p:spPr>
          <a:xfrm>
            <a:off x="2212848" y="3401568"/>
            <a:ext cx="3703320" cy="713232"/>
          </a:xfrm>
          <a:prstGeom prst="roundRect">
            <a:avLst>
              <a:gd name="adj" fmla="val 7692"/>
            </a:avLst>
          </a:prstGeom>
          <a:solidFill>
            <a:srgbClr val="FACC15">
              <a:alpha val="92000"/>
            </a:srgbClr>
          </a:solidFill>
          <a:ln w="12700">
            <a:solidFill>
              <a:srgbClr val="FACC15">
                <a:alpha val="75000"/>
              </a:srgbClr>
            </a:solidFill>
            <a:prstDash val="solid"/>
          </a:ln>
        </p:spPr>
      </p:sp>
      <p:sp>
        <p:nvSpPr>
          <p:cNvPr id="405" name="Text 402"/>
          <p:cNvSpPr/>
          <p:nvPr/>
        </p:nvSpPr>
        <p:spPr>
          <a:xfrm>
            <a:off x="2377440" y="3566160"/>
            <a:ext cx="337413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someone points it at something that matters?</a:t>
            </a:r>
            <a:endParaRPr lang="en-US" sz="1250" dirty="0"/>
          </a:p>
        </p:txBody>
      </p:sp>
      <p:sp>
        <p:nvSpPr>
          <p:cNvPr id="406" name="Shape 403"/>
          <p:cNvSpPr/>
          <p:nvPr/>
        </p:nvSpPr>
        <p:spPr>
          <a:xfrm>
            <a:off x="6419088" y="3401568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F9A8D4">
              <a:alpha val="94000"/>
            </a:srgbClr>
          </a:solidFill>
          <a:ln w="12700">
            <a:solidFill>
              <a:srgbClr val="EC4899">
                <a:alpha val="75000"/>
              </a:srgbClr>
            </a:solidFill>
            <a:prstDash val="solid"/>
          </a:ln>
        </p:spPr>
      </p:sp>
      <p:sp>
        <p:nvSpPr>
          <p:cNvPr id="407" name="Text 404"/>
          <p:cNvSpPr/>
          <p:nvPr/>
        </p:nvSpPr>
        <p:spPr>
          <a:xfrm>
            <a:off x="6583680" y="3566160"/>
            <a:ext cx="328269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on the other end when they do?</a:t>
            </a:r>
            <a:endParaRPr lang="en-US" sz="1250" dirty="0"/>
          </a:p>
        </p:txBody>
      </p:sp>
      <p:sp>
        <p:nvSpPr>
          <p:cNvPr id="408" name="Shape 405"/>
          <p:cNvSpPr/>
          <p:nvPr/>
        </p:nvSpPr>
        <p:spPr>
          <a:xfrm>
            <a:off x="5943600" y="3749040"/>
            <a:ext cx="457200" cy="0"/>
          </a:xfrm>
          <a:prstGeom prst="line">
            <a:avLst/>
          </a:prstGeom>
          <a:noFill/>
          <a:ln w="20320">
            <a:solidFill>
              <a:srgbClr val="EC489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822960"/>
            <a:ext cx="88696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the friendship and it becomes a system.</a:t>
            </a:r>
            <a:endParaRPr lang="en-US" sz="2800" dirty="0"/>
          </a:p>
        </p:txBody>
      </p:sp>
      <p:sp>
        <p:nvSpPr>
          <p:cNvPr id="396" name="Shape 393"/>
          <p:cNvSpPr/>
          <p:nvPr/>
        </p:nvSpPr>
        <p:spPr>
          <a:xfrm>
            <a:off x="1536192" y="1554480"/>
            <a:ext cx="16916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Text 394"/>
          <p:cNvSpPr/>
          <p:nvPr/>
        </p:nvSpPr>
        <p:spPr>
          <a:xfrm>
            <a:off x="1517904" y="1847088"/>
            <a:ext cx="114300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LAYER</a:t>
            </a:r>
            <a:endParaRPr lang="en-US" sz="570" dirty="0"/>
          </a:p>
        </p:txBody>
      </p:sp>
      <p:sp>
        <p:nvSpPr>
          <p:cNvPr id="398" name="Shape 395"/>
          <p:cNvSpPr/>
          <p:nvPr/>
        </p:nvSpPr>
        <p:spPr>
          <a:xfrm>
            <a:off x="2542032" y="1920240"/>
            <a:ext cx="8101584" cy="0"/>
          </a:xfrm>
          <a:prstGeom prst="line">
            <a:avLst/>
          </a:prstGeom>
          <a:noFill/>
          <a:ln w="889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99" name="Text 396"/>
          <p:cNvSpPr/>
          <p:nvPr/>
        </p:nvSpPr>
        <p:spPr>
          <a:xfrm>
            <a:off x="1517904" y="2724912"/>
            <a:ext cx="114300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 LAYER</a:t>
            </a:r>
            <a:endParaRPr lang="en-US" sz="570" dirty="0"/>
          </a:p>
        </p:txBody>
      </p:sp>
      <p:sp>
        <p:nvSpPr>
          <p:cNvPr id="400" name="Shape 397"/>
          <p:cNvSpPr/>
          <p:nvPr/>
        </p:nvSpPr>
        <p:spPr>
          <a:xfrm>
            <a:off x="2542032" y="2798064"/>
            <a:ext cx="8101584" cy="0"/>
          </a:xfrm>
          <a:prstGeom prst="line">
            <a:avLst/>
          </a:prstGeom>
          <a:noFill/>
          <a:ln w="889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1" name="Text 398"/>
          <p:cNvSpPr/>
          <p:nvPr/>
        </p:nvSpPr>
        <p:spPr>
          <a:xfrm>
            <a:off x="1517904" y="3602736"/>
            <a:ext cx="114300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APP/TOOL LAYER</a:t>
            </a:r>
            <a:endParaRPr lang="en-US" sz="570" dirty="0"/>
          </a:p>
        </p:txBody>
      </p:sp>
      <p:sp>
        <p:nvSpPr>
          <p:cNvPr id="402" name="Shape 399"/>
          <p:cNvSpPr/>
          <p:nvPr/>
        </p:nvSpPr>
        <p:spPr>
          <a:xfrm>
            <a:off x="2542032" y="3675888"/>
            <a:ext cx="8101584" cy="0"/>
          </a:xfrm>
          <a:prstGeom prst="line">
            <a:avLst/>
          </a:prstGeom>
          <a:noFill/>
          <a:ln w="889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3" name="Text 400"/>
          <p:cNvSpPr/>
          <p:nvPr/>
        </p:nvSpPr>
        <p:spPr>
          <a:xfrm>
            <a:off x="1517904" y="4480560"/>
            <a:ext cx="114300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 ACTOR</a:t>
            </a:r>
            <a:endParaRPr lang="en-US" sz="570" dirty="0"/>
          </a:p>
        </p:txBody>
      </p:sp>
      <p:sp>
        <p:nvSpPr>
          <p:cNvPr id="404" name="Shape 401"/>
          <p:cNvSpPr/>
          <p:nvPr/>
        </p:nvSpPr>
        <p:spPr>
          <a:xfrm>
            <a:off x="2542032" y="4553712"/>
            <a:ext cx="8101584" cy="0"/>
          </a:xfrm>
          <a:prstGeom prst="line">
            <a:avLst/>
          </a:prstGeom>
          <a:noFill/>
          <a:ln w="889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5" name="Shape 402"/>
          <p:cNvSpPr/>
          <p:nvPr/>
        </p:nvSpPr>
        <p:spPr>
          <a:xfrm>
            <a:off x="2743200" y="1508760"/>
            <a:ext cx="1234440" cy="621792"/>
          </a:xfrm>
          <a:prstGeom prst="roundRect">
            <a:avLst>
              <a:gd name="adj" fmla="val 7353"/>
            </a:avLst>
          </a:prstGeom>
          <a:solidFill>
            <a:srgbClr val="12183A"/>
          </a:solidFill>
          <a:ln w="12700">
            <a:solidFill>
              <a:srgbClr val="FACC15">
                <a:alpha val="80000"/>
              </a:srgbClr>
            </a:solidFill>
            <a:prstDash val="solid"/>
          </a:ln>
        </p:spPr>
      </p:sp>
      <p:sp>
        <p:nvSpPr>
          <p:cNvPr id="406" name="Text 403"/>
          <p:cNvSpPr/>
          <p:nvPr/>
        </p:nvSpPr>
        <p:spPr>
          <a:xfrm>
            <a:off x="2871216" y="1627632"/>
            <a:ext cx="97840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</a:t>
            </a:r>
            <a:endParaRPr lang="en-US" sz="600" dirty="0"/>
          </a:p>
        </p:txBody>
      </p:sp>
      <p:sp>
        <p:nvSpPr>
          <p:cNvPr id="407" name="Text 404"/>
          <p:cNvSpPr/>
          <p:nvPr/>
        </p:nvSpPr>
        <p:spPr>
          <a:xfrm>
            <a:off x="2889504" y="1856232"/>
            <a:ext cx="9418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940" dirty="0"/>
          </a:p>
        </p:txBody>
      </p:sp>
      <p:sp>
        <p:nvSpPr>
          <p:cNvPr id="408" name="Shape 405"/>
          <p:cNvSpPr/>
          <p:nvPr/>
        </p:nvSpPr>
        <p:spPr>
          <a:xfrm>
            <a:off x="4343400" y="2359152"/>
            <a:ext cx="1234440" cy="621792"/>
          </a:xfrm>
          <a:prstGeom prst="roundRect">
            <a:avLst>
              <a:gd name="adj" fmla="val 7353"/>
            </a:avLst>
          </a:prstGeom>
          <a:solidFill>
            <a:srgbClr val="12183A"/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409" name="Text 406"/>
          <p:cNvSpPr/>
          <p:nvPr/>
        </p:nvSpPr>
        <p:spPr>
          <a:xfrm>
            <a:off x="4471416" y="2478024"/>
            <a:ext cx="97840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</a:t>
            </a:r>
            <a:endParaRPr lang="en-US" sz="600" dirty="0"/>
          </a:p>
        </p:txBody>
      </p:sp>
      <p:sp>
        <p:nvSpPr>
          <p:cNvPr id="410" name="Text 407"/>
          <p:cNvSpPr/>
          <p:nvPr/>
        </p:nvSpPr>
        <p:spPr>
          <a:xfrm>
            <a:off x="4489704" y="2706624"/>
            <a:ext cx="9418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VPS</a:t>
            </a:r>
            <a:endParaRPr lang="en-US" sz="940" dirty="0"/>
          </a:p>
        </p:txBody>
      </p:sp>
      <p:sp>
        <p:nvSpPr>
          <p:cNvPr id="411" name="Shape 408"/>
          <p:cNvSpPr/>
          <p:nvPr/>
        </p:nvSpPr>
        <p:spPr>
          <a:xfrm>
            <a:off x="5989320" y="2359152"/>
            <a:ext cx="1389888" cy="621792"/>
          </a:xfrm>
          <a:prstGeom prst="roundRect">
            <a:avLst>
              <a:gd name="adj" fmla="val 7353"/>
            </a:avLst>
          </a:prstGeom>
          <a:solidFill>
            <a:srgbClr val="12183A"/>
          </a:solidFill>
          <a:ln w="12700">
            <a:solidFill>
              <a:srgbClr val="2DD4BF">
                <a:alpha val="80000"/>
              </a:srgbClr>
            </a:solidFill>
            <a:prstDash val="solid"/>
          </a:ln>
        </p:spPr>
      </p:sp>
      <p:sp>
        <p:nvSpPr>
          <p:cNvPr id="412" name="Text 409"/>
          <p:cNvSpPr/>
          <p:nvPr/>
        </p:nvSpPr>
        <p:spPr>
          <a:xfrm>
            <a:off x="6117336" y="2478024"/>
            <a:ext cx="1133856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endParaRPr lang="en-US" sz="600" dirty="0"/>
          </a:p>
        </p:txBody>
      </p:sp>
      <p:sp>
        <p:nvSpPr>
          <p:cNvPr id="413" name="Text 410"/>
          <p:cNvSpPr/>
          <p:nvPr/>
        </p:nvSpPr>
        <p:spPr>
          <a:xfrm>
            <a:off x="6135624" y="2706624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40" dirty="0"/>
          </a:p>
        </p:txBody>
      </p:sp>
      <p:sp>
        <p:nvSpPr>
          <p:cNvPr id="414" name="Shape 411"/>
          <p:cNvSpPr/>
          <p:nvPr/>
        </p:nvSpPr>
        <p:spPr>
          <a:xfrm>
            <a:off x="7845552" y="3182112"/>
            <a:ext cx="1572768" cy="804672"/>
          </a:xfrm>
          <a:prstGeom prst="roundRect">
            <a:avLst>
              <a:gd name="adj" fmla="val 5682"/>
            </a:avLst>
          </a:prstGeom>
          <a:solidFill>
            <a:srgbClr val="12183A"/>
          </a:solidFill>
          <a:ln w="12700">
            <a:solidFill>
              <a:srgbClr val="A855F7">
                <a:alpha val="80000"/>
              </a:srgbClr>
            </a:solidFill>
            <a:prstDash val="solid"/>
          </a:ln>
        </p:spPr>
      </p:sp>
      <p:sp>
        <p:nvSpPr>
          <p:cNvPr id="415" name="Text 412"/>
          <p:cNvSpPr/>
          <p:nvPr/>
        </p:nvSpPr>
        <p:spPr>
          <a:xfrm>
            <a:off x="7973568" y="3300984"/>
            <a:ext cx="1316736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</a:t>
            </a:r>
            <a:endParaRPr lang="en-US" sz="600" dirty="0"/>
          </a:p>
        </p:txBody>
      </p:sp>
      <p:sp>
        <p:nvSpPr>
          <p:cNvPr id="416" name="Text 413"/>
          <p:cNvSpPr/>
          <p:nvPr/>
        </p:nvSpPr>
        <p:spPr>
          <a:xfrm>
            <a:off x="7991856" y="3529584"/>
            <a:ext cx="12801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Instaclaw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Shellmates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</a:t>
            </a:r>
            <a:endParaRPr lang="en-US" sz="940" dirty="0"/>
          </a:p>
        </p:txBody>
      </p:sp>
      <p:sp>
        <p:nvSpPr>
          <p:cNvPr id="417" name="Shape 414"/>
          <p:cNvSpPr/>
          <p:nvPr/>
        </p:nvSpPr>
        <p:spPr>
          <a:xfrm>
            <a:off x="5779008" y="4050792"/>
            <a:ext cx="1810512" cy="786384"/>
          </a:xfrm>
          <a:prstGeom prst="roundRect">
            <a:avLst>
              <a:gd name="adj" fmla="val 5814"/>
            </a:avLst>
          </a:prstGeom>
          <a:solidFill>
            <a:srgbClr val="12183A"/>
          </a:solidFill>
          <a:ln w="12700">
            <a:solidFill>
              <a:srgbClr val="FACC15">
                <a:alpha val="80000"/>
              </a:srgbClr>
            </a:solidFill>
            <a:prstDash val="solid"/>
          </a:ln>
        </p:spPr>
      </p:sp>
      <p:sp>
        <p:nvSpPr>
          <p:cNvPr id="418" name="Text 415"/>
          <p:cNvSpPr/>
          <p:nvPr/>
        </p:nvSpPr>
        <p:spPr>
          <a:xfrm>
            <a:off x="5907024" y="4169664"/>
            <a:ext cx="155448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endParaRPr lang="en-US" sz="600" dirty="0"/>
          </a:p>
        </p:txBody>
      </p:sp>
      <p:sp>
        <p:nvSpPr>
          <p:cNvPr id="419" name="Text 416"/>
          <p:cNvSpPr/>
          <p:nvPr/>
        </p:nvSpPr>
        <p:spPr>
          <a:xfrm>
            <a:off x="5925312" y="4398264"/>
            <a:ext cx="15179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enabled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loaded</a:t>
            </a:r>
            <a:endParaRPr lang="en-US" sz="940" dirty="0"/>
          </a:p>
        </p:txBody>
      </p:sp>
      <p:sp>
        <p:nvSpPr>
          <p:cNvPr id="420" name="Shape 417"/>
          <p:cNvSpPr/>
          <p:nvPr/>
        </p:nvSpPr>
        <p:spPr>
          <a:xfrm>
            <a:off x="9802368" y="3182112"/>
            <a:ext cx="1225296" cy="621792"/>
          </a:xfrm>
          <a:prstGeom prst="roundRect">
            <a:avLst>
              <a:gd name="adj" fmla="val 7353"/>
            </a:avLst>
          </a:prstGeom>
          <a:solidFill>
            <a:srgbClr val="12183A"/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421" name="Text 418"/>
          <p:cNvSpPr/>
          <p:nvPr/>
        </p:nvSpPr>
        <p:spPr>
          <a:xfrm>
            <a:off x="9930384" y="3300984"/>
            <a:ext cx="969264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AGENT</a:t>
            </a:r>
            <a:endParaRPr lang="en-US" sz="600" dirty="0"/>
          </a:p>
        </p:txBody>
      </p:sp>
      <p:sp>
        <p:nvSpPr>
          <p:cNvPr id="422" name="Text 419"/>
          <p:cNvSpPr/>
          <p:nvPr/>
        </p:nvSpPr>
        <p:spPr>
          <a:xfrm>
            <a:off x="9948672" y="3529584"/>
            <a:ext cx="93268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XiaoZhu</a:t>
            </a:r>
            <a:endParaRPr lang="en-US" sz="940" dirty="0"/>
          </a:p>
        </p:txBody>
      </p:sp>
      <p:sp>
        <p:nvSpPr>
          <p:cNvPr id="423" name="Shape 420"/>
          <p:cNvSpPr/>
          <p:nvPr/>
        </p:nvSpPr>
        <p:spPr>
          <a:xfrm>
            <a:off x="9802368" y="4773168"/>
            <a:ext cx="1225296" cy="621792"/>
          </a:xfrm>
          <a:prstGeom prst="roundRect">
            <a:avLst>
              <a:gd name="adj" fmla="val 7353"/>
            </a:avLst>
          </a:prstGeom>
          <a:solidFill>
            <a:srgbClr val="12183A"/>
          </a:solidFill>
          <a:ln w="12700">
            <a:solidFill>
              <a:srgbClr val="FB7185">
                <a:alpha val="80000"/>
              </a:srgbClr>
            </a:solidFill>
            <a:prstDash val="solid"/>
          </a:ln>
        </p:spPr>
      </p:sp>
      <p:sp>
        <p:nvSpPr>
          <p:cNvPr id="424" name="Text 421"/>
          <p:cNvSpPr/>
          <p:nvPr/>
        </p:nvSpPr>
        <p:spPr>
          <a:xfrm>
            <a:off x="9930384" y="4892040"/>
            <a:ext cx="969264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HUMAN</a:t>
            </a:r>
            <a:endParaRPr lang="en-US" sz="600" dirty="0"/>
          </a:p>
        </p:txBody>
      </p:sp>
      <p:sp>
        <p:nvSpPr>
          <p:cNvPr id="425" name="Text 422"/>
          <p:cNvSpPr/>
          <p:nvPr/>
        </p:nvSpPr>
        <p:spPr>
          <a:xfrm>
            <a:off x="9948672" y="5120640"/>
            <a:ext cx="93268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940" dirty="0"/>
          </a:p>
        </p:txBody>
      </p:sp>
      <p:sp>
        <p:nvSpPr>
          <p:cNvPr id="426" name="Shape 423"/>
          <p:cNvSpPr/>
          <p:nvPr/>
        </p:nvSpPr>
        <p:spPr>
          <a:xfrm>
            <a:off x="3977640" y="1819656"/>
            <a:ext cx="365760" cy="850392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27" name="Shape 424"/>
          <p:cNvSpPr/>
          <p:nvPr/>
        </p:nvSpPr>
        <p:spPr>
          <a:xfrm>
            <a:off x="5577840" y="2670048"/>
            <a:ext cx="411480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28" name="Shape 425"/>
          <p:cNvSpPr/>
          <p:nvPr/>
        </p:nvSpPr>
        <p:spPr>
          <a:xfrm>
            <a:off x="7379208" y="2670048"/>
            <a:ext cx="466344" cy="91440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29" name="Shape 426"/>
          <p:cNvSpPr/>
          <p:nvPr/>
        </p:nvSpPr>
        <p:spPr>
          <a:xfrm>
            <a:off x="6675120" y="2980944"/>
            <a:ext cx="0" cy="1069848"/>
          </a:xfrm>
          <a:prstGeom prst="line">
            <a:avLst/>
          </a:prstGeom>
          <a:noFill/>
          <a:ln w="15240">
            <a:solidFill>
              <a:srgbClr val="FACC15"/>
            </a:solidFill>
            <a:prstDash val="solid"/>
            <a:tailEnd type="triangle"/>
          </a:ln>
        </p:spPr>
      </p:sp>
      <p:sp>
        <p:nvSpPr>
          <p:cNvPr id="430" name="Shape 427"/>
          <p:cNvSpPr/>
          <p:nvPr/>
        </p:nvSpPr>
        <p:spPr>
          <a:xfrm>
            <a:off x="9418320" y="3584448"/>
            <a:ext cx="384048" cy="-54864"/>
          </a:xfrm>
          <a:prstGeom prst="line">
            <a:avLst/>
          </a:prstGeom>
          <a:noFill/>
          <a:ln w="1524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431" name="Shape 428"/>
          <p:cNvSpPr/>
          <p:nvPr/>
        </p:nvSpPr>
        <p:spPr>
          <a:xfrm>
            <a:off x="10415016" y="3813048"/>
            <a:ext cx="0" cy="960120"/>
          </a:xfrm>
          <a:prstGeom prst="line">
            <a:avLst/>
          </a:prstGeom>
          <a:noFill/>
          <a:ln w="1524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432" name="Shape 429"/>
          <p:cNvSpPr/>
          <p:nvPr/>
        </p:nvSpPr>
        <p:spPr>
          <a:xfrm rot="-60000">
            <a:off x="3337560" y="5733288"/>
            <a:ext cx="2560320" cy="420624"/>
          </a:xfrm>
          <a:prstGeom prst="roundRect">
            <a:avLst>
              <a:gd name="adj" fmla="val 10870"/>
            </a:avLst>
          </a:prstGeom>
          <a:solidFill>
            <a:srgbClr val="FACC15">
              <a:alpha val="16000"/>
            </a:srgbClr>
          </a:solidFill>
          <a:ln w="12700">
            <a:solidFill>
              <a:srgbClr val="FACC15">
                <a:alpha val="88000"/>
              </a:srgbClr>
            </a:solidFill>
            <a:prstDash val="solid"/>
          </a:ln>
        </p:spPr>
      </p:sp>
      <p:sp>
        <p:nvSpPr>
          <p:cNvPr id="433" name="Text 430"/>
          <p:cNvSpPr/>
          <p:nvPr/>
        </p:nvSpPr>
        <p:spPr>
          <a:xfrm rot="-60000">
            <a:off x="3429000" y="5870448"/>
            <a:ext cx="237744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SURFACE AREA FOR MESS *</a:t>
            </a:r>
            <a:endParaRPr lang="en-US" sz="600" dirty="0"/>
          </a:p>
        </p:txBody>
      </p:sp>
      <p:sp>
        <p:nvSpPr>
          <p:cNvPr id="434" name="Shape 431"/>
          <p:cNvSpPr/>
          <p:nvPr/>
        </p:nvSpPr>
        <p:spPr>
          <a:xfrm rot="60000">
            <a:off x="6492240" y="5733288"/>
            <a:ext cx="2971800" cy="420624"/>
          </a:xfrm>
          <a:prstGeom prst="roundRect">
            <a:avLst>
              <a:gd name="adj" fmla="val 10870"/>
            </a:avLst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88000"/>
              </a:srgbClr>
            </a:solidFill>
            <a:prstDash val="solid"/>
          </a:ln>
        </p:spPr>
      </p:sp>
      <p:sp>
        <p:nvSpPr>
          <p:cNvPr id="435" name="Text 432"/>
          <p:cNvSpPr/>
          <p:nvPr/>
        </p:nvSpPr>
        <p:spPr>
          <a:xfrm rot="60000">
            <a:off x="6583680" y="5870448"/>
            <a:ext cx="278892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INSTRUCTIONS I HAD NOT READ *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1115568"/>
            <a:ext cx="8869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not the hard part anymore.</a:t>
            </a:r>
            <a:endParaRPr lang="en-US" sz="3400" dirty="0"/>
          </a:p>
        </p:txBody>
      </p:sp>
      <p:sp>
        <p:nvSpPr>
          <p:cNvPr id="396" name="Shape 393"/>
          <p:cNvSpPr/>
          <p:nvPr/>
        </p:nvSpPr>
        <p:spPr>
          <a:xfrm>
            <a:off x="1536192" y="2011680"/>
            <a:ext cx="256032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Text 394"/>
          <p:cNvSpPr/>
          <p:nvPr/>
        </p:nvSpPr>
        <p:spPr>
          <a:xfrm>
            <a:off x="1572768" y="3291840"/>
            <a:ext cx="87782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is everything around it.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1143000"/>
            <a:ext cx="29718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is</a:t>
            </a:r>
            <a:endParaRPr lang="en-US" sz="2900" dirty="0"/>
          </a:p>
        </p:txBody>
      </p:sp>
      <p:sp>
        <p:nvSpPr>
          <p:cNvPr id="396" name="Shape 393"/>
          <p:cNvSpPr/>
          <p:nvPr/>
        </p:nvSpPr>
        <p:spPr>
          <a:xfrm>
            <a:off x="1536192" y="1874520"/>
            <a:ext cx="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5321808" y="1234440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B7185">
              <a:alpha val="86000"/>
            </a:srgbClr>
          </a:solidFill>
          <a:ln w="12700">
            <a:solidFill>
              <a:srgbClr val="FB7185">
                <a:alpha val="75000"/>
              </a:srgbClr>
            </a:solidFill>
            <a:prstDash val="solid"/>
          </a:ln>
        </p:spPr>
      </p:sp>
      <p:sp>
        <p:nvSpPr>
          <p:cNvPr id="398" name="Text 395"/>
          <p:cNvSpPr/>
          <p:nvPr/>
        </p:nvSpPr>
        <p:spPr>
          <a:xfrm>
            <a:off x="5486400" y="1399032"/>
            <a:ext cx="2093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</a:t>
            </a:r>
            <a:endParaRPr lang="en-US" sz="1800" dirty="0"/>
          </a:p>
        </p:txBody>
      </p:sp>
      <p:sp>
        <p:nvSpPr>
          <p:cNvPr id="399" name="Shape 396"/>
          <p:cNvSpPr/>
          <p:nvPr/>
        </p:nvSpPr>
        <p:spPr>
          <a:xfrm>
            <a:off x="5596128" y="1517904"/>
            <a:ext cx="184708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00" name="Shape 397"/>
          <p:cNvSpPr/>
          <p:nvPr/>
        </p:nvSpPr>
        <p:spPr>
          <a:xfrm>
            <a:off x="4882896" y="2880360"/>
            <a:ext cx="2971800" cy="713232"/>
          </a:xfrm>
          <a:prstGeom prst="roundRect">
            <a:avLst>
              <a:gd name="adj" fmla="val 7692"/>
            </a:avLst>
          </a:prstGeom>
          <a:solidFill>
            <a:srgbClr val="99F6E4">
              <a:alpha val="98000"/>
            </a:srgbClr>
          </a:solidFill>
          <a:ln w="12700">
            <a:solidFill>
              <a:srgbClr val="2DD4BF">
                <a:alpha val="90000"/>
              </a:srgbClr>
            </a:solidFill>
            <a:prstDash val="solid"/>
          </a:ln>
        </p:spPr>
      </p:sp>
      <p:sp>
        <p:nvSpPr>
          <p:cNvPr id="401" name="Text 398"/>
          <p:cNvSpPr/>
          <p:nvPr/>
        </p:nvSpPr>
        <p:spPr>
          <a:xfrm>
            <a:off x="5047488" y="3044952"/>
            <a:ext cx="264261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2200" dirty="0"/>
          </a:p>
        </p:txBody>
      </p:sp>
      <p:sp>
        <p:nvSpPr>
          <p:cNvPr id="402" name="Text 399"/>
          <p:cNvSpPr/>
          <p:nvPr/>
        </p:nvSpPr>
        <p:spPr>
          <a:xfrm>
            <a:off x="1609344" y="4297680"/>
            <a:ext cx="38404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it.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822960"/>
            <a:ext cx="43891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of the Field</a:t>
            </a:r>
            <a:endParaRPr lang="en-US" sz="2800" dirty="0"/>
          </a:p>
        </p:txBody>
      </p:sp>
      <p:sp>
        <p:nvSpPr>
          <p:cNvPr id="396" name="Shape 393"/>
          <p:cNvSpPr/>
          <p:nvPr/>
        </p:nvSpPr>
        <p:spPr>
          <a:xfrm>
            <a:off x="1536192" y="1554480"/>
            <a:ext cx="16916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2011680" y="3200400"/>
            <a:ext cx="8183880" cy="0"/>
          </a:xfrm>
          <a:prstGeom prst="line">
            <a:avLst/>
          </a:prstGeom>
          <a:noFill/>
          <a:ln w="254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98" name="Shape 395"/>
          <p:cNvSpPr/>
          <p:nvPr/>
        </p:nvSpPr>
        <p:spPr>
          <a:xfrm>
            <a:off x="1920240" y="3054096"/>
            <a:ext cx="292608" cy="292608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99" name="Text 396"/>
          <p:cNvSpPr/>
          <p:nvPr/>
        </p:nvSpPr>
        <p:spPr>
          <a:xfrm>
            <a:off x="1426464" y="2468880"/>
            <a:ext cx="132588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</a:t>
            </a:r>
            <a:endParaRPr lang="en-US" sz="640" dirty="0"/>
          </a:p>
        </p:txBody>
      </p:sp>
      <p:sp>
        <p:nvSpPr>
          <p:cNvPr id="400" name="Text 397"/>
          <p:cNvSpPr/>
          <p:nvPr/>
        </p:nvSpPr>
        <p:spPr>
          <a:xfrm>
            <a:off x="1261872" y="3584448"/>
            <a:ext cx="1645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AAB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I say?</a:t>
            </a:r>
            <a:endParaRPr lang="en-US" sz="620" dirty="0"/>
          </a:p>
        </p:txBody>
      </p:sp>
      <p:sp>
        <p:nvSpPr>
          <p:cNvPr id="401" name="Shape 398"/>
          <p:cNvSpPr/>
          <p:nvPr/>
        </p:nvSpPr>
        <p:spPr>
          <a:xfrm>
            <a:off x="3886200" y="3054096"/>
            <a:ext cx="292608" cy="29260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02" name="Text 399"/>
          <p:cNvSpPr/>
          <p:nvPr/>
        </p:nvSpPr>
        <p:spPr>
          <a:xfrm>
            <a:off x="3392424" y="2468880"/>
            <a:ext cx="132588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640" dirty="0"/>
          </a:p>
        </p:txBody>
      </p:sp>
      <p:sp>
        <p:nvSpPr>
          <p:cNvPr id="403" name="Text 400"/>
          <p:cNvSpPr/>
          <p:nvPr/>
        </p:nvSpPr>
        <p:spPr>
          <a:xfrm>
            <a:off x="3227832" y="3584448"/>
            <a:ext cx="1645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AAB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it reach?</a:t>
            </a:r>
            <a:endParaRPr lang="en-US" sz="620" dirty="0"/>
          </a:p>
        </p:txBody>
      </p:sp>
      <p:sp>
        <p:nvSpPr>
          <p:cNvPr id="404" name="Shape 401"/>
          <p:cNvSpPr/>
          <p:nvPr/>
        </p:nvSpPr>
        <p:spPr>
          <a:xfrm>
            <a:off x="5897880" y="3054096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05" name="Text 402"/>
          <p:cNvSpPr/>
          <p:nvPr/>
        </p:nvSpPr>
        <p:spPr>
          <a:xfrm>
            <a:off x="5404104" y="2468880"/>
            <a:ext cx="132588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WORKFLOWS</a:t>
            </a:r>
            <a:endParaRPr lang="en-US" sz="640" dirty="0"/>
          </a:p>
        </p:txBody>
      </p:sp>
      <p:sp>
        <p:nvSpPr>
          <p:cNvPr id="406" name="Text 403"/>
          <p:cNvSpPr/>
          <p:nvPr/>
        </p:nvSpPr>
        <p:spPr>
          <a:xfrm>
            <a:off x="5239512" y="3584448"/>
            <a:ext cx="1645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AAB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next?</a:t>
            </a:r>
            <a:endParaRPr lang="en-US" sz="620" dirty="0"/>
          </a:p>
        </p:txBody>
      </p:sp>
      <p:sp>
        <p:nvSpPr>
          <p:cNvPr id="407" name="Shape 404"/>
          <p:cNvSpPr/>
          <p:nvPr/>
        </p:nvSpPr>
        <p:spPr>
          <a:xfrm>
            <a:off x="7973568" y="3054096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08" name="Text 405"/>
          <p:cNvSpPr/>
          <p:nvPr/>
        </p:nvSpPr>
        <p:spPr>
          <a:xfrm>
            <a:off x="7479792" y="2468880"/>
            <a:ext cx="132588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FACTORIES</a:t>
            </a:r>
            <a:endParaRPr lang="en-US" sz="640" dirty="0"/>
          </a:p>
        </p:txBody>
      </p:sp>
      <p:sp>
        <p:nvSpPr>
          <p:cNvPr id="409" name="Text 406"/>
          <p:cNvSpPr/>
          <p:nvPr/>
        </p:nvSpPr>
        <p:spPr>
          <a:xfrm>
            <a:off x="7315200" y="3584448"/>
            <a:ext cx="1645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AAB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loops coordinate?</a:t>
            </a:r>
            <a:endParaRPr lang="en-US" sz="620" dirty="0"/>
          </a:p>
        </p:txBody>
      </p:sp>
      <p:sp>
        <p:nvSpPr>
          <p:cNvPr id="410" name="Shape 407"/>
          <p:cNvSpPr/>
          <p:nvPr/>
        </p:nvSpPr>
        <p:spPr>
          <a:xfrm>
            <a:off x="10012680" y="3054096"/>
            <a:ext cx="292608" cy="29260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11" name="Text 408"/>
          <p:cNvSpPr/>
          <p:nvPr/>
        </p:nvSpPr>
        <p:spPr>
          <a:xfrm>
            <a:off x="9518904" y="2468880"/>
            <a:ext cx="132588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SYSTEMS</a:t>
            </a:r>
            <a:endParaRPr lang="en-US" sz="640" dirty="0"/>
          </a:p>
        </p:txBody>
      </p:sp>
      <p:sp>
        <p:nvSpPr>
          <p:cNvPr id="412" name="Text 409"/>
          <p:cNvSpPr/>
          <p:nvPr/>
        </p:nvSpPr>
        <p:spPr>
          <a:xfrm>
            <a:off x="9354312" y="3584448"/>
            <a:ext cx="1645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AAB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governs it?</a:t>
            </a:r>
            <a:endParaRPr lang="en-US" sz="620" dirty="0"/>
          </a:p>
        </p:txBody>
      </p:sp>
      <p:sp>
        <p:nvSpPr>
          <p:cNvPr id="413" name="Shape 410"/>
          <p:cNvSpPr/>
          <p:nvPr/>
        </p:nvSpPr>
        <p:spPr>
          <a:xfrm rot="-60000">
            <a:off x="5303520" y="4864608"/>
            <a:ext cx="1965960" cy="420624"/>
          </a:xfrm>
          <a:prstGeom prst="roundRect">
            <a:avLst>
              <a:gd name="adj" fmla="val 10870"/>
            </a:avLst>
          </a:prstGeom>
          <a:solidFill>
            <a:srgbClr val="2DD4BF">
              <a:alpha val="16000"/>
            </a:srgbClr>
          </a:solidFill>
          <a:ln w="12700">
            <a:solidFill>
              <a:srgbClr val="2DD4BF">
                <a:alpha val="88000"/>
              </a:srgbClr>
            </a:solidFill>
            <a:prstDash val="solid"/>
          </a:ln>
        </p:spPr>
      </p:sp>
      <p:sp>
        <p:nvSpPr>
          <p:cNvPr id="414" name="Text 411"/>
          <p:cNvSpPr/>
          <p:nvPr/>
        </p:nvSpPr>
        <p:spPr>
          <a:xfrm rot="-60000">
            <a:off x="5394960" y="5001768"/>
            <a:ext cx="178308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YOU ARE HERE *</a:t>
            </a:r>
            <a:endParaRPr lang="en-US" sz="600" dirty="0"/>
          </a:p>
        </p:txBody>
      </p:sp>
      <p:sp>
        <p:nvSpPr>
          <p:cNvPr id="415" name="Shape 412"/>
          <p:cNvSpPr/>
          <p:nvPr/>
        </p:nvSpPr>
        <p:spPr>
          <a:xfrm>
            <a:off x="6263640" y="4828032"/>
            <a:ext cx="-182880" cy="-146304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16" name="Shape 413"/>
          <p:cNvSpPr/>
          <p:nvPr/>
        </p:nvSpPr>
        <p:spPr>
          <a:xfrm rot="60000">
            <a:off x="7223760" y="4572000"/>
            <a:ext cx="2834640" cy="420624"/>
          </a:xfrm>
          <a:prstGeom prst="roundRect">
            <a:avLst>
              <a:gd name="adj" fmla="val 10870"/>
            </a:avLst>
          </a:prstGeom>
          <a:solidFill>
            <a:srgbClr val="EC4899">
              <a:alpha val="16000"/>
            </a:srgbClr>
          </a:solidFill>
          <a:ln w="12700">
            <a:solidFill>
              <a:srgbClr val="EC4899">
                <a:alpha val="88000"/>
              </a:srgbClr>
            </a:solidFill>
            <a:prstDash val="solid"/>
          </a:ln>
        </p:spPr>
      </p:sp>
      <p:sp>
        <p:nvSpPr>
          <p:cNvPr id="417" name="Text 414"/>
          <p:cNvSpPr/>
          <p:nvPr/>
        </p:nvSpPr>
        <p:spPr>
          <a:xfrm rot="60000">
            <a:off x="7315200" y="4709160"/>
            <a:ext cx="265176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FRONTIER ENGINEERS ARE HERE *</a:t>
            </a:r>
            <a:endParaRPr lang="en-US" sz="600" dirty="0"/>
          </a:p>
        </p:txBody>
      </p:sp>
      <p:sp>
        <p:nvSpPr>
          <p:cNvPr id="418" name="Shape 415"/>
          <p:cNvSpPr/>
          <p:nvPr/>
        </p:nvSpPr>
        <p:spPr>
          <a:xfrm>
            <a:off x="8549640" y="4535424"/>
            <a:ext cx="-429768" cy="-1170432"/>
          </a:xfrm>
          <a:prstGeom prst="line">
            <a:avLst/>
          </a:prstGeom>
          <a:noFill/>
          <a:ln w="1524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419" name="Shape 416"/>
          <p:cNvSpPr/>
          <p:nvPr/>
        </p:nvSpPr>
        <p:spPr>
          <a:xfrm rot="-60000">
            <a:off x="7479792" y="1170432"/>
            <a:ext cx="3520440" cy="420624"/>
          </a:xfrm>
          <a:prstGeom prst="roundRect">
            <a:avLst>
              <a:gd name="adj" fmla="val 10870"/>
            </a:avLst>
          </a:prstGeom>
          <a:solidFill>
            <a:srgbClr val="A855F7">
              <a:alpha val="16000"/>
            </a:srgbClr>
          </a:solidFill>
          <a:ln w="12700">
            <a:solidFill>
              <a:srgbClr val="A855F7">
                <a:alpha val="88000"/>
              </a:srgbClr>
            </a:solidFill>
            <a:prstDash val="solid"/>
          </a:ln>
        </p:spPr>
      </p:sp>
      <p:sp>
        <p:nvSpPr>
          <p:cNvPr id="420" name="Text 417"/>
          <p:cNvSpPr/>
          <p:nvPr/>
        </p:nvSpPr>
        <p:spPr>
          <a:xfrm rot="-60000">
            <a:off x="7571232" y="1307592"/>
            <a:ext cx="333756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REGULATED COMPLIANCE / SYSTEMS ARE HERE *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822960"/>
            <a:ext cx="88696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engineering</a:t>
            </a:r>
            <a:endParaRPr lang="en-US" sz="2800" dirty="0"/>
          </a:p>
        </p:txBody>
      </p:sp>
      <p:sp>
        <p:nvSpPr>
          <p:cNvPr id="396" name="Shape 393"/>
          <p:cNvSpPr/>
          <p:nvPr/>
        </p:nvSpPr>
        <p:spPr>
          <a:xfrm>
            <a:off x="1536192" y="1554480"/>
            <a:ext cx="16916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1591056" y="16916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12183A"/>
          </a:solidFill>
          <a:ln w="12700">
            <a:solidFill>
              <a:srgbClr val="A855F7">
                <a:alpha val="5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398" name="Shape 395"/>
          <p:cNvSpPr/>
          <p:nvPr/>
        </p:nvSpPr>
        <p:spPr>
          <a:xfrm>
            <a:off x="1591056" y="1691640"/>
            <a:ext cx="365760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399" name="Text 396"/>
          <p:cNvSpPr/>
          <p:nvPr/>
        </p:nvSpPr>
        <p:spPr>
          <a:xfrm>
            <a:off x="1755648" y="1810512"/>
            <a:ext cx="301752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post screenshot</a:t>
            </a:r>
            <a:endParaRPr lang="en-US" sz="680" dirty="0"/>
          </a:p>
        </p:txBody>
      </p:sp>
      <p:sp>
        <p:nvSpPr>
          <p:cNvPr id="400" name="Shape 397"/>
          <p:cNvSpPr/>
          <p:nvPr/>
        </p:nvSpPr>
        <p:spPr>
          <a:xfrm>
            <a:off x="4846320" y="1828800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01" name="Shape 398"/>
          <p:cNvSpPr/>
          <p:nvPr/>
        </p:nvSpPr>
        <p:spPr>
          <a:xfrm>
            <a:off x="4965192" y="1828800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02" name="Shape 399"/>
          <p:cNvSpPr/>
          <p:nvPr/>
        </p:nvSpPr>
        <p:spPr>
          <a:xfrm>
            <a:off x="5084064" y="1828800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pic>
        <p:nvPicPr>
          <p:cNvPr id="403" name="Image 0" descr="/Users/fatimasarahkhalid/Sites/_keynotes/agent-craft-2026/deck/assets/placeholders/loop-engine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2436304"/>
            <a:ext cx="3383280" cy="1903095"/>
          </a:xfrm>
          <a:prstGeom prst="rect">
            <a:avLst/>
          </a:prstGeom>
        </p:spPr>
      </p:pic>
      <p:sp>
        <p:nvSpPr>
          <p:cNvPr id="404" name="Shape 400"/>
          <p:cNvSpPr/>
          <p:nvPr/>
        </p:nvSpPr>
        <p:spPr>
          <a:xfrm>
            <a:off x="1847088" y="4352544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65000"/>
              </a:srgbClr>
            </a:solidFill>
            <a:prstDash val="solid"/>
          </a:ln>
        </p:spPr>
      </p:sp>
      <p:sp>
        <p:nvSpPr>
          <p:cNvPr id="405" name="Text 401"/>
          <p:cNvSpPr/>
          <p:nvPr/>
        </p:nvSpPr>
        <p:spPr>
          <a:xfrm>
            <a:off x="1920240" y="4457700"/>
            <a:ext cx="1088136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IMAGE</a:t>
            </a:r>
            <a:endParaRPr lang="en-US" sz="550" dirty="0"/>
          </a:p>
        </p:txBody>
      </p:sp>
      <p:sp>
        <p:nvSpPr>
          <p:cNvPr id="406" name="Shape 402"/>
          <p:cNvSpPr/>
          <p:nvPr/>
        </p:nvSpPr>
        <p:spPr>
          <a:xfrm>
            <a:off x="5742432" y="1691640"/>
            <a:ext cx="4617720" cy="3063240"/>
          </a:xfrm>
          <a:prstGeom prst="roundRect">
            <a:avLst>
              <a:gd name="adj" fmla="val 1791"/>
            </a:avLst>
          </a:prstGeom>
          <a:solidFill>
            <a:srgbClr val="12183A"/>
          </a:solidFill>
          <a:ln w="12700">
            <a:solidFill>
              <a:srgbClr val="2DD4BF">
                <a:alpha val="2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407" name="Shape 403"/>
          <p:cNvSpPr/>
          <p:nvPr/>
        </p:nvSpPr>
        <p:spPr>
          <a:xfrm>
            <a:off x="5742432" y="1691640"/>
            <a:ext cx="461772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08" name="Text 404"/>
          <p:cNvSpPr/>
          <p:nvPr/>
        </p:nvSpPr>
        <p:spPr>
          <a:xfrm>
            <a:off x="5907024" y="1810512"/>
            <a:ext cx="397764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inbox-system.loop</a:t>
            </a:r>
            <a:endParaRPr lang="en-US" sz="680" dirty="0"/>
          </a:p>
        </p:txBody>
      </p:sp>
      <p:sp>
        <p:nvSpPr>
          <p:cNvPr id="409" name="Shape 405"/>
          <p:cNvSpPr/>
          <p:nvPr/>
        </p:nvSpPr>
        <p:spPr>
          <a:xfrm>
            <a:off x="9957816" y="1828800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10" name="Shape 406"/>
          <p:cNvSpPr/>
          <p:nvPr/>
        </p:nvSpPr>
        <p:spPr>
          <a:xfrm>
            <a:off x="10076688" y="1828800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11" name="Shape 407"/>
          <p:cNvSpPr/>
          <p:nvPr/>
        </p:nvSpPr>
        <p:spPr>
          <a:xfrm>
            <a:off x="10195560" y="1828800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sp>
        <p:nvSpPr>
          <p:cNvPr id="412" name="Text 408"/>
          <p:cNvSpPr/>
          <p:nvPr/>
        </p:nvSpPr>
        <p:spPr>
          <a:xfrm>
            <a:off x="6089904" y="2322576"/>
            <a:ext cx="3803904" cy="1481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 inbox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categorise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originals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what changed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 risky items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decisions to human</a:t>
            </a:r>
            <a:endParaRPr lang="en-US" sz="1500" dirty="0"/>
          </a:p>
        </p:txBody>
      </p:sp>
      <p:sp>
        <p:nvSpPr>
          <p:cNvPr id="413" name="Shape 409"/>
          <p:cNvSpPr/>
          <p:nvPr/>
        </p:nvSpPr>
        <p:spPr>
          <a:xfrm>
            <a:off x="2212848" y="5230368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ACC15">
              <a:alpha val="92000"/>
            </a:srgbClr>
          </a:solidFill>
          <a:ln w="12700">
            <a:solidFill>
              <a:srgbClr val="FACC15">
                <a:alpha val="75000"/>
              </a:srgbClr>
            </a:solidFill>
            <a:prstDash val="solid"/>
          </a:ln>
        </p:spPr>
      </p:sp>
      <p:sp>
        <p:nvSpPr>
          <p:cNvPr id="414" name="Text 410"/>
          <p:cNvSpPr/>
          <p:nvPr/>
        </p:nvSpPr>
        <p:spPr>
          <a:xfrm>
            <a:off x="2377440" y="5394960"/>
            <a:ext cx="16824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is a sentence</a:t>
            </a:r>
            <a:endParaRPr lang="en-US" sz="1250" dirty="0"/>
          </a:p>
        </p:txBody>
      </p:sp>
      <p:sp>
        <p:nvSpPr>
          <p:cNvPr id="415" name="Shape 411"/>
          <p:cNvSpPr/>
          <p:nvPr/>
        </p:nvSpPr>
        <p:spPr>
          <a:xfrm>
            <a:off x="7059168" y="5230368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ACC15">
              <a:alpha val="92000"/>
            </a:srgbClr>
          </a:solidFill>
          <a:ln w="12700">
            <a:solidFill>
              <a:srgbClr val="FACC15">
                <a:alpha val="75000"/>
              </a:srgbClr>
            </a:solidFill>
            <a:prstDash val="solid"/>
          </a:ln>
        </p:spPr>
      </p:sp>
      <p:sp>
        <p:nvSpPr>
          <p:cNvPr id="416" name="Text 412"/>
          <p:cNvSpPr/>
          <p:nvPr/>
        </p:nvSpPr>
        <p:spPr>
          <a:xfrm>
            <a:off x="7223760" y="5394960"/>
            <a:ext cx="204825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is a system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Shape 392"/>
          <p:cNvSpPr/>
          <p:nvPr/>
        </p:nvSpPr>
        <p:spPr>
          <a:xfrm>
            <a:off x="1572768" y="1005840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2DD4BF">
              <a:alpha val="16000"/>
            </a:srgbClr>
          </a:solidFill>
          <a:ln w="12700">
            <a:solidFill>
              <a:srgbClr val="2DD4BF">
                <a:alpha val="88000"/>
              </a:srgbClr>
            </a:solidFill>
            <a:prstDash val="solid"/>
          </a:ln>
        </p:spPr>
      </p:sp>
      <p:sp>
        <p:nvSpPr>
          <p:cNvPr id="396" name="Text 393"/>
          <p:cNvSpPr/>
          <p:nvPr/>
        </p:nvSpPr>
        <p:spPr>
          <a:xfrm>
            <a:off x="1664208" y="1143000"/>
            <a:ext cx="137160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FIELD STOP 01 *</a:t>
            </a:r>
            <a:endParaRPr lang="en-US" sz="600" dirty="0"/>
          </a:p>
        </p:txBody>
      </p:sp>
      <p:sp>
        <p:nvSpPr>
          <p:cNvPr id="397" name="Text 394"/>
          <p:cNvSpPr/>
          <p:nvPr/>
        </p:nvSpPr>
        <p:spPr>
          <a:xfrm>
            <a:off x="1572768" y="1700784"/>
            <a:ext cx="42062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systems</a:t>
            </a:r>
            <a:endParaRPr lang="en-US" sz="3500" dirty="0"/>
          </a:p>
        </p:txBody>
      </p:sp>
      <p:sp>
        <p:nvSpPr>
          <p:cNvPr id="398" name="Shape 395"/>
          <p:cNvSpPr/>
          <p:nvPr/>
        </p:nvSpPr>
        <p:spPr>
          <a:xfrm>
            <a:off x="2148840" y="365760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60A5FA">
              <a:alpha val="90000"/>
            </a:srgbClr>
          </a:solidFill>
          <a:ln w="12700">
            <a:solidFill>
              <a:srgbClr val="60A5FA">
                <a:alpha val="75000"/>
              </a:srgbClr>
            </a:solidFill>
            <a:prstDash val="solid"/>
          </a:ln>
        </p:spPr>
      </p:sp>
      <p:sp>
        <p:nvSpPr>
          <p:cNvPr id="399" name="Text 396"/>
          <p:cNvSpPr/>
          <p:nvPr/>
        </p:nvSpPr>
        <p:spPr>
          <a:xfrm>
            <a:off x="2313432" y="3822192"/>
            <a:ext cx="168249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task</a:t>
            </a:r>
            <a:endParaRPr lang="en-US" sz="1250" dirty="0"/>
          </a:p>
        </p:txBody>
      </p:sp>
      <p:sp>
        <p:nvSpPr>
          <p:cNvPr id="400" name="Shape 397"/>
          <p:cNvSpPr/>
          <p:nvPr/>
        </p:nvSpPr>
        <p:spPr>
          <a:xfrm>
            <a:off x="4709160" y="3401568"/>
            <a:ext cx="2331720" cy="1078992"/>
          </a:xfrm>
          <a:prstGeom prst="roundRect">
            <a:avLst>
              <a:gd name="adj" fmla="val 5085"/>
            </a:avLst>
          </a:prstGeom>
          <a:solidFill>
            <a:srgbClr val="2DD4BF">
              <a:alpha val="90000"/>
            </a:srgbClr>
          </a:solidFill>
          <a:ln w="12700">
            <a:solidFill>
              <a:srgbClr val="2DD4BF">
                <a:alpha val="75000"/>
              </a:srgbClr>
            </a:solidFill>
            <a:prstDash val="solid"/>
          </a:ln>
        </p:spPr>
      </p:sp>
      <p:sp>
        <p:nvSpPr>
          <p:cNvPr id="401" name="Text 398"/>
          <p:cNvSpPr/>
          <p:nvPr/>
        </p:nvSpPr>
        <p:spPr>
          <a:xfrm>
            <a:off x="4873752" y="3566160"/>
            <a:ext cx="200253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system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phases</a:t>
            </a:r>
            <a:endParaRPr lang="en-US" sz="1250" dirty="0"/>
          </a:p>
        </p:txBody>
      </p:sp>
      <p:sp>
        <p:nvSpPr>
          <p:cNvPr id="402" name="Shape 399"/>
          <p:cNvSpPr/>
          <p:nvPr/>
        </p:nvSpPr>
        <p:spPr>
          <a:xfrm>
            <a:off x="7680960" y="3657600"/>
            <a:ext cx="2331720" cy="804672"/>
          </a:xfrm>
          <a:prstGeom prst="roundRect">
            <a:avLst>
              <a:gd name="adj" fmla="val 6818"/>
            </a:avLst>
          </a:prstGeom>
          <a:solidFill>
            <a:srgbClr val="EC4899">
              <a:alpha val="86000"/>
            </a:srgbClr>
          </a:solidFill>
          <a:ln w="12700">
            <a:solidFill>
              <a:srgbClr val="EC4899">
                <a:alpha val="75000"/>
              </a:srgbClr>
            </a:solidFill>
            <a:prstDash val="solid"/>
          </a:ln>
        </p:spPr>
      </p:sp>
      <p:sp>
        <p:nvSpPr>
          <p:cNvPr id="403" name="Text 400"/>
          <p:cNvSpPr/>
          <p:nvPr/>
        </p:nvSpPr>
        <p:spPr>
          <a:xfrm>
            <a:off x="7845552" y="3822192"/>
            <a:ext cx="200253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handoffs + review</a:t>
            </a:r>
            <a:endParaRPr lang="en-US" sz="1250" dirty="0"/>
          </a:p>
        </p:txBody>
      </p:sp>
      <p:sp>
        <p:nvSpPr>
          <p:cNvPr id="404" name="Shape 401"/>
          <p:cNvSpPr/>
          <p:nvPr/>
        </p:nvSpPr>
        <p:spPr>
          <a:xfrm>
            <a:off x="4160520" y="4041648"/>
            <a:ext cx="548640" cy="-128016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05" name="Shape 402"/>
          <p:cNvSpPr/>
          <p:nvPr/>
        </p:nvSpPr>
        <p:spPr>
          <a:xfrm>
            <a:off x="7040880" y="3913632"/>
            <a:ext cx="640080" cy="128016"/>
          </a:xfrm>
          <a:prstGeom prst="line">
            <a:avLst/>
          </a:prstGeom>
          <a:noFill/>
          <a:ln w="1524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406" name="Shape 403"/>
          <p:cNvSpPr/>
          <p:nvPr/>
        </p:nvSpPr>
        <p:spPr>
          <a:xfrm>
            <a:off x="4663440" y="2487168"/>
            <a:ext cx="2697480" cy="310896"/>
          </a:xfrm>
          <a:prstGeom prst="roundRect">
            <a:avLst>
              <a:gd name="adj" fmla="val 35294"/>
            </a:avLst>
          </a:prstGeom>
          <a:solidFill>
            <a:srgbClr val="2DD4BF">
              <a:alpha val="14000"/>
            </a:srgbClr>
          </a:solidFill>
          <a:ln w="12700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407" name="Text 404"/>
          <p:cNvSpPr/>
          <p:nvPr/>
        </p:nvSpPr>
        <p:spPr>
          <a:xfrm>
            <a:off x="4736592" y="2592324"/>
            <a:ext cx="2551176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MOVE: MAKE IT REPEATABLE</a:t>
            </a:r>
            <a:endParaRPr lang="en-US" sz="5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822960"/>
            <a:ext cx="88696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God-Prompt is three jobs wearing a trench coat.</a:t>
            </a:r>
            <a:endParaRPr lang="en-US" sz="2800" dirty="0"/>
          </a:p>
        </p:txBody>
      </p:sp>
      <p:sp>
        <p:nvSpPr>
          <p:cNvPr id="396" name="Shape 393"/>
          <p:cNvSpPr/>
          <p:nvPr/>
        </p:nvSpPr>
        <p:spPr>
          <a:xfrm>
            <a:off x="1536192" y="1554480"/>
            <a:ext cx="16916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1627632" y="1847088"/>
            <a:ext cx="3794760" cy="3337560"/>
          </a:xfrm>
          <a:prstGeom prst="roundRect">
            <a:avLst>
              <a:gd name="adj" fmla="val 1644"/>
            </a:avLst>
          </a:prstGeom>
          <a:solidFill>
            <a:srgbClr val="12183A"/>
          </a:solidFill>
          <a:ln w="12700">
            <a:solidFill>
              <a:srgbClr val="EC4899">
                <a:alpha val="2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398" name="Shape 395"/>
          <p:cNvSpPr/>
          <p:nvPr/>
        </p:nvSpPr>
        <p:spPr>
          <a:xfrm>
            <a:off x="1627632" y="1847088"/>
            <a:ext cx="379476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399" name="Text 396"/>
          <p:cNvSpPr/>
          <p:nvPr/>
        </p:nvSpPr>
        <p:spPr>
          <a:xfrm>
            <a:off x="1792224" y="1965960"/>
            <a:ext cx="315468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one-giant-instruction.prompt</a:t>
            </a:r>
            <a:endParaRPr lang="en-US" sz="680" dirty="0"/>
          </a:p>
        </p:txBody>
      </p:sp>
      <p:sp>
        <p:nvSpPr>
          <p:cNvPr id="400" name="Shape 397"/>
          <p:cNvSpPr/>
          <p:nvPr/>
        </p:nvSpPr>
        <p:spPr>
          <a:xfrm>
            <a:off x="5020056" y="1984248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01" name="Shape 398"/>
          <p:cNvSpPr/>
          <p:nvPr/>
        </p:nvSpPr>
        <p:spPr>
          <a:xfrm>
            <a:off x="5138928" y="1984248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02" name="Shape 399"/>
          <p:cNvSpPr/>
          <p:nvPr/>
        </p:nvSpPr>
        <p:spPr>
          <a:xfrm>
            <a:off x="5257800" y="1984248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sp>
        <p:nvSpPr>
          <p:cNvPr id="403" name="Text 400"/>
          <p:cNvSpPr/>
          <p:nvPr/>
        </p:nvSpPr>
        <p:spPr>
          <a:xfrm>
            <a:off x="1975104" y="2596896"/>
            <a:ext cx="2962656" cy="1389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the lead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the email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the pipeline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 proposal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CRM</a:t>
            </a:r>
            <a:endParaRPr lang="en-US" sz="1600" dirty="0"/>
          </a:p>
        </p:txBody>
      </p:sp>
      <p:sp>
        <p:nvSpPr>
          <p:cNvPr id="404" name="Shape 401"/>
          <p:cNvSpPr/>
          <p:nvPr/>
        </p:nvSpPr>
        <p:spPr>
          <a:xfrm>
            <a:off x="6446520" y="2029968"/>
            <a:ext cx="2761488" cy="713232"/>
          </a:xfrm>
          <a:prstGeom prst="roundRect">
            <a:avLst>
              <a:gd name="adj" fmla="val 7692"/>
            </a:avLst>
          </a:prstGeom>
          <a:solidFill>
            <a:srgbClr val="FACC15">
              <a:alpha val="92000"/>
            </a:srgbClr>
          </a:solidFill>
          <a:ln w="12700">
            <a:solidFill>
              <a:srgbClr val="FACC15">
                <a:alpha val="75000"/>
              </a:srgbClr>
            </a:solidFill>
            <a:prstDash val="solid"/>
          </a:ln>
        </p:spPr>
      </p:sp>
      <p:sp>
        <p:nvSpPr>
          <p:cNvPr id="405" name="Text 402"/>
          <p:cNvSpPr/>
          <p:nvPr/>
        </p:nvSpPr>
        <p:spPr>
          <a:xfrm>
            <a:off x="6611112" y="2194560"/>
            <a:ext cx="2432304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technically an answer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useless</a:t>
            </a:r>
            <a:endParaRPr lang="en-US" sz="1250" dirty="0"/>
          </a:p>
        </p:txBody>
      </p:sp>
      <p:sp>
        <p:nvSpPr>
          <p:cNvPr id="406" name="Shape 403"/>
          <p:cNvSpPr/>
          <p:nvPr/>
        </p:nvSpPr>
        <p:spPr>
          <a:xfrm>
            <a:off x="6812280" y="4023360"/>
            <a:ext cx="2926080" cy="713232"/>
          </a:xfrm>
          <a:prstGeom prst="roundRect">
            <a:avLst>
              <a:gd name="adj" fmla="val 7692"/>
            </a:avLst>
          </a:prstGeom>
          <a:solidFill>
            <a:srgbClr val="FACC15">
              <a:alpha val="92000"/>
            </a:srgbClr>
          </a:solidFill>
          <a:ln w="12700">
            <a:solidFill>
              <a:srgbClr val="FACC15">
                <a:alpha val="75000"/>
              </a:srgbClr>
            </a:solidFill>
            <a:prstDash val="solid"/>
          </a:ln>
        </p:spPr>
      </p:sp>
      <p:sp>
        <p:nvSpPr>
          <p:cNvPr id="407" name="Text 404"/>
          <p:cNvSpPr/>
          <p:nvPr/>
        </p:nvSpPr>
        <p:spPr>
          <a:xfrm>
            <a:off x="6976872" y="4187952"/>
            <a:ext cx="259689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fills every gap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defaults</a:t>
            </a:r>
            <a:endParaRPr lang="en-US" sz="1250" dirty="0"/>
          </a:p>
        </p:txBody>
      </p:sp>
      <p:sp>
        <p:nvSpPr>
          <p:cNvPr id="408" name="Shape 405"/>
          <p:cNvSpPr/>
          <p:nvPr/>
        </p:nvSpPr>
        <p:spPr>
          <a:xfrm>
            <a:off x="5413248" y="2944368"/>
            <a:ext cx="1033272" cy="-512064"/>
          </a:xfrm>
          <a:prstGeom prst="line">
            <a:avLst/>
          </a:prstGeom>
          <a:noFill/>
          <a:ln w="1524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409" name="Shape 406"/>
          <p:cNvSpPr/>
          <p:nvPr/>
        </p:nvSpPr>
        <p:spPr>
          <a:xfrm>
            <a:off x="5413248" y="3364992"/>
            <a:ext cx="1399032" cy="1005840"/>
          </a:xfrm>
          <a:prstGeom prst="line">
            <a:avLst/>
          </a:prstGeom>
          <a:noFill/>
          <a:ln w="15240">
            <a:solidFill>
              <a:srgbClr val="EC489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822960"/>
            <a:ext cx="88696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it is decomposition, not prompt theatre.</a:t>
            </a:r>
            <a:endParaRPr lang="en-US" sz="2800" dirty="0"/>
          </a:p>
        </p:txBody>
      </p:sp>
      <p:sp>
        <p:nvSpPr>
          <p:cNvPr id="396" name="Shape 393"/>
          <p:cNvSpPr/>
          <p:nvPr/>
        </p:nvSpPr>
        <p:spPr>
          <a:xfrm>
            <a:off x="1536192" y="1554480"/>
            <a:ext cx="16916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1627632" y="1828800"/>
            <a:ext cx="2157984" cy="310896"/>
          </a:xfrm>
          <a:prstGeom prst="roundRect">
            <a:avLst>
              <a:gd name="adj" fmla="val 35294"/>
            </a:avLst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65000"/>
              </a:srgbClr>
            </a:solidFill>
            <a:prstDash val="solid"/>
          </a:ln>
        </p:spPr>
      </p:sp>
      <p:sp>
        <p:nvSpPr>
          <p:cNvPr id="398" name="Text 395"/>
          <p:cNvSpPr/>
          <p:nvPr/>
        </p:nvSpPr>
        <p:spPr>
          <a:xfrm>
            <a:off x="1700784" y="1933956"/>
            <a:ext cx="2011680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KNOW THE MODEL</a:t>
            </a:r>
            <a:endParaRPr lang="en-US" sz="580" dirty="0"/>
          </a:p>
        </p:txBody>
      </p:sp>
      <p:sp>
        <p:nvSpPr>
          <p:cNvPr id="399" name="Shape 396"/>
          <p:cNvSpPr/>
          <p:nvPr/>
        </p:nvSpPr>
        <p:spPr>
          <a:xfrm>
            <a:off x="1627632" y="2487168"/>
            <a:ext cx="2157984" cy="2331720"/>
          </a:xfrm>
          <a:prstGeom prst="roundRect">
            <a:avLst>
              <a:gd name="adj" fmla="val 2542"/>
            </a:avLst>
          </a:prstGeom>
          <a:solidFill>
            <a:srgbClr val="12183A"/>
          </a:solidFill>
          <a:ln w="12700">
            <a:solidFill>
              <a:srgbClr val="A855F7">
                <a:alpha val="2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400" name="Shape 397"/>
          <p:cNvSpPr/>
          <p:nvPr/>
        </p:nvSpPr>
        <p:spPr>
          <a:xfrm>
            <a:off x="1627632" y="2487168"/>
            <a:ext cx="2157984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01" name="Text 398"/>
          <p:cNvSpPr/>
          <p:nvPr/>
        </p:nvSpPr>
        <p:spPr>
          <a:xfrm>
            <a:off x="1792224" y="2606040"/>
            <a:ext cx="1517904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note</a:t>
            </a:r>
            <a:endParaRPr lang="en-US" sz="680" dirty="0"/>
          </a:p>
        </p:txBody>
      </p:sp>
      <p:sp>
        <p:nvSpPr>
          <p:cNvPr id="402" name="Shape 399"/>
          <p:cNvSpPr/>
          <p:nvPr/>
        </p:nvSpPr>
        <p:spPr>
          <a:xfrm>
            <a:off x="3383280" y="2624328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03" name="Shape 400"/>
          <p:cNvSpPr/>
          <p:nvPr/>
        </p:nvSpPr>
        <p:spPr>
          <a:xfrm>
            <a:off x="3502152" y="2624328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04" name="Shape 401"/>
          <p:cNvSpPr/>
          <p:nvPr/>
        </p:nvSpPr>
        <p:spPr>
          <a:xfrm>
            <a:off x="3621024" y="2624328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sp>
        <p:nvSpPr>
          <p:cNvPr id="405" name="Text 402"/>
          <p:cNvSpPr/>
          <p:nvPr/>
        </p:nvSpPr>
        <p:spPr>
          <a:xfrm>
            <a:off x="1828800" y="3127248"/>
            <a:ext cx="1737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fast/shallow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deep reasoning?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knob is hidden?</a:t>
            </a:r>
            <a:endParaRPr lang="en-US" sz="1320" dirty="0"/>
          </a:p>
        </p:txBody>
      </p:sp>
      <p:sp>
        <p:nvSpPr>
          <p:cNvPr id="406" name="Shape 403"/>
          <p:cNvSpPr/>
          <p:nvPr/>
        </p:nvSpPr>
        <p:spPr>
          <a:xfrm>
            <a:off x="4709160" y="1828800"/>
            <a:ext cx="2157984" cy="310896"/>
          </a:xfrm>
          <a:prstGeom prst="roundRect">
            <a:avLst>
              <a:gd name="adj" fmla="val 35294"/>
            </a:avLst>
          </a:prstGeom>
          <a:solidFill>
            <a:srgbClr val="2DD4BF">
              <a:alpha val="14000"/>
            </a:srgbClr>
          </a:solidFill>
          <a:ln w="12700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407" name="Text 404"/>
          <p:cNvSpPr/>
          <p:nvPr/>
        </p:nvSpPr>
        <p:spPr>
          <a:xfrm>
            <a:off x="4782312" y="1933956"/>
            <a:ext cx="2011680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SPLIT THE WORK</a:t>
            </a:r>
            <a:endParaRPr lang="en-US" sz="580" dirty="0"/>
          </a:p>
        </p:txBody>
      </p:sp>
      <p:sp>
        <p:nvSpPr>
          <p:cNvPr id="408" name="Shape 405"/>
          <p:cNvSpPr/>
          <p:nvPr/>
        </p:nvSpPr>
        <p:spPr>
          <a:xfrm>
            <a:off x="4709160" y="2487168"/>
            <a:ext cx="2157984" cy="2331720"/>
          </a:xfrm>
          <a:prstGeom prst="roundRect">
            <a:avLst>
              <a:gd name="adj" fmla="val 2542"/>
            </a:avLst>
          </a:prstGeom>
          <a:solidFill>
            <a:srgbClr val="12183A"/>
          </a:solidFill>
          <a:ln w="12700">
            <a:solidFill>
              <a:srgbClr val="2DD4BF">
                <a:alpha val="2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409" name="Shape 406"/>
          <p:cNvSpPr/>
          <p:nvPr/>
        </p:nvSpPr>
        <p:spPr>
          <a:xfrm>
            <a:off x="4709160" y="2487168"/>
            <a:ext cx="2157984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10" name="Text 407"/>
          <p:cNvSpPr/>
          <p:nvPr/>
        </p:nvSpPr>
        <p:spPr>
          <a:xfrm>
            <a:off x="4873752" y="2606040"/>
            <a:ext cx="1517904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note</a:t>
            </a:r>
            <a:endParaRPr lang="en-US" sz="680" dirty="0"/>
          </a:p>
        </p:txBody>
      </p:sp>
      <p:sp>
        <p:nvSpPr>
          <p:cNvPr id="411" name="Shape 408"/>
          <p:cNvSpPr/>
          <p:nvPr/>
        </p:nvSpPr>
        <p:spPr>
          <a:xfrm>
            <a:off x="6464808" y="2624328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12" name="Shape 409"/>
          <p:cNvSpPr/>
          <p:nvPr/>
        </p:nvSpPr>
        <p:spPr>
          <a:xfrm>
            <a:off x="6583680" y="2624328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13" name="Shape 410"/>
          <p:cNvSpPr/>
          <p:nvPr/>
        </p:nvSpPr>
        <p:spPr>
          <a:xfrm>
            <a:off x="6702552" y="2624328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sp>
        <p:nvSpPr>
          <p:cNvPr id="414" name="Text 411"/>
          <p:cNvSpPr/>
          <p:nvPr/>
        </p:nvSpPr>
        <p:spPr>
          <a:xfrm>
            <a:off x="4910328" y="3127248"/>
            <a:ext cx="1737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</a:t>
            </a:r>
            <a:endParaRPr lang="en-US" sz="1320" dirty="0"/>
          </a:p>
        </p:txBody>
      </p:sp>
      <p:sp>
        <p:nvSpPr>
          <p:cNvPr id="415" name="Shape 412"/>
          <p:cNvSpPr/>
          <p:nvPr/>
        </p:nvSpPr>
        <p:spPr>
          <a:xfrm>
            <a:off x="7818120" y="1828800"/>
            <a:ext cx="2157984" cy="310896"/>
          </a:xfrm>
          <a:prstGeom prst="roundRect">
            <a:avLst>
              <a:gd name="adj" fmla="val 35294"/>
            </a:avLst>
          </a:prstGeom>
          <a:solidFill>
            <a:srgbClr val="FACC15">
              <a:alpha val="14000"/>
            </a:srgbClr>
          </a:solidFill>
          <a:ln w="12700">
            <a:solidFill>
              <a:srgbClr val="FACC15">
                <a:alpha val="65000"/>
              </a:srgbClr>
            </a:solidFill>
            <a:prstDash val="solid"/>
          </a:ln>
        </p:spPr>
      </p:sp>
      <p:sp>
        <p:nvSpPr>
          <p:cNvPr id="416" name="Text 413"/>
          <p:cNvSpPr/>
          <p:nvPr/>
        </p:nvSpPr>
        <p:spPr>
          <a:xfrm>
            <a:off x="7891272" y="1933956"/>
            <a:ext cx="2011680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MAKE BREAKS VISIBLE</a:t>
            </a:r>
            <a:endParaRPr lang="en-US" sz="580" dirty="0"/>
          </a:p>
        </p:txBody>
      </p:sp>
      <p:sp>
        <p:nvSpPr>
          <p:cNvPr id="417" name="Shape 414"/>
          <p:cNvSpPr/>
          <p:nvPr/>
        </p:nvSpPr>
        <p:spPr>
          <a:xfrm>
            <a:off x="7818120" y="2487168"/>
            <a:ext cx="2157984" cy="2331720"/>
          </a:xfrm>
          <a:prstGeom prst="roundRect">
            <a:avLst>
              <a:gd name="adj" fmla="val 2542"/>
            </a:avLst>
          </a:prstGeom>
          <a:solidFill>
            <a:srgbClr val="12183A"/>
          </a:solidFill>
          <a:ln w="12700">
            <a:solidFill>
              <a:srgbClr val="FACC15">
                <a:alpha val="2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418" name="Shape 415"/>
          <p:cNvSpPr/>
          <p:nvPr/>
        </p:nvSpPr>
        <p:spPr>
          <a:xfrm>
            <a:off x="7818120" y="2487168"/>
            <a:ext cx="2157984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19" name="Text 416"/>
          <p:cNvSpPr/>
          <p:nvPr/>
        </p:nvSpPr>
        <p:spPr>
          <a:xfrm>
            <a:off x="7982712" y="2606040"/>
            <a:ext cx="1517904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note</a:t>
            </a:r>
            <a:endParaRPr lang="en-US" sz="680" dirty="0"/>
          </a:p>
        </p:txBody>
      </p:sp>
      <p:sp>
        <p:nvSpPr>
          <p:cNvPr id="420" name="Shape 417"/>
          <p:cNvSpPr/>
          <p:nvPr/>
        </p:nvSpPr>
        <p:spPr>
          <a:xfrm>
            <a:off x="9573768" y="2624328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21" name="Shape 418"/>
          <p:cNvSpPr/>
          <p:nvPr/>
        </p:nvSpPr>
        <p:spPr>
          <a:xfrm>
            <a:off x="9692640" y="2624328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22" name="Shape 419"/>
          <p:cNvSpPr/>
          <p:nvPr/>
        </p:nvSpPr>
        <p:spPr>
          <a:xfrm>
            <a:off x="9811512" y="2624328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sp>
        <p:nvSpPr>
          <p:cNvPr id="423" name="Text 420"/>
          <p:cNvSpPr/>
          <p:nvPr/>
        </p:nvSpPr>
        <p:spPr>
          <a:xfrm>
            <a:off x="8019288" y="3127248"/>
            <a:ext cx="1737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part failed?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assumption surfaced?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a human check?</a:t>
            </a:r>
            <a:endParaRPr lang="en-US" sz="1320" dirty="0"/>
          </a:p>
        </p:txBody>
      </p:sp>
      <p:sp>
        <p:nvSpPr>
          <p:cNvPr id="424" name="Shape 421"/>
          <p:cNvSpPr/>
          <p:nvPr/>
        </p:nvSpPr>
        <p:spPr>
          <a:xfrm>
            <a:off x="4206240" y="5413248"/>
            <a:ext cx="4114800" cy="420624"/>
          </a:xfrm>
          <a:prstGeom prst="roundRect">
            <a:avLst>
              <a:gd name="adj" fmla="val 10870"/>
            </a:avLst>
          </a:prstGeom>
          <a:solidFill>
            <a:srgbClr val="EC4899">
              <a:alpha val="16000"/>
            </a:srgbClr>
          </a:solidFill>
          <a:ln w="12700">
            <a:solidFill>
              <a:srgbClr val="EC4899">
                <a:alpha val="88000"/>
              </a:srgbClr>
            </a:solidFill>
            <a:prstDash val="solid"/>
          </a:ln>
        </p:spPr>
      </p:sp>
      <p:sp>
        <p:nvSpPr>
          <p:cNvPr id="425" name="Text 422"/>
          <p:cNvSpPr/>
          <p:nvPr/>
        </p:nvSpPr>
        <p:spPr>
          <a:xfrm>
            <a:off x="4297680" y="5550408"/>
            <a:ext cx="393192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PREREQUISITE: DECIDE WHAT GOOD LOOKS LIKE *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822960"/>
            <a:ext cx="88696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Nick's chief-of-staff agent</a:t>
            </a:r>
            <a:endParaRPr lang="en-US" sz="2800" dirty="0"/>
          </a:p>
        </p:txBody>
      </p:sp>
      <p:sp>
        <p:nvSpPr>
          <p:cNvPr id="396" name="Shape 393"/>
          <p:cNvSpPr/>
          <p:nvPr/>
        </p:nvSpPr>
        <p:spPr>
          <a:xfrm>
            <a:off x="1536192" y="1554480"/>
            <a:ext cx="16916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1719072" y="2148840"/>
            <a:ext cx="1627632" cy="1325880"/>
          </a:xfrm>
          <a:prstGeom prst="roundRect">
            <a:avLst>
              <a:gd name="adj" fmla="val 3448"/>
            </a:avLst>
          </a:prstGeom>
          <a:solidFill>
            <a:srgbClr val="12183A"/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398" name="Text 395"/>
          <p:cNvSpPr/>
          <p:nvPr/>
        </p:nvSpPr>
        <p:spPr>
          <a:xfrm>
            <a:off x="1847088" y="2267712"/>
            <a:ext cx="137160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</a:t>
            </a:r>
            <a:endParaRPr lang="en-US" sz="600" dirty="0"/>
          </a:p>
        </p:txBody>
      </p:sp>
      <p:sp>
        <p:nvSpPr>
          <p:cNvPr id="399" name="Text 396"/>
          <p:cNvSpPr/>
          <p:nvPr/>
        </p:nvSpPr>
        <p:spPr>
          <a:xfrm>
            <a:off x="1865376" y="2496312"/>
            <a:ext cx="1335024" cy="886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transcripts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Docs</a:t>
            </a:r>
            <a:endParaRPr lang="en-US" sz="940" dirty="0"/>
          </a:p>
        </p:txBody>
      </p:sp>
      <p:sp>
        <p:nvSpPr>
          <p:cNvPr id="400" name="Shape 397"/>
          <p:cNvSpPr/>
          <p:nvPr/>
        </p:nvSpPr>
        <p:spPr>
          <a:xfrm>
            <a:off x="4069080" y="2148840"/>
            <a:ext cx="1792224" cy="1325880"/>
          </a:xfrm>
          <a:prstGeom prst="roundRect">
            <a:avLst>
              <a:gd name="adj" fmla="val 3448"/>
            </a:avLst>
          </a:prstGeom>
          <a:solidFill>
            <a:srgbClr val="12183A"/>
          </a:solidFill>
          <a:ln w="12700">
            <a:solidFill>
              <a:srgbClr val="2DD4BF">
                <a:alpha val="80000"/>
              </a:srgbClr>
            </a:solidFill>
            <a:prstDash val="solid"/>
          </a:ln>
        </p:spPr>
      </p:sp>
      <p:sp>
        <p:nvSpPr>
          <p:cNvPr id="401" name="Text 398"/>
          <p:cNvSpPr/>
          <p:nvPr/>
        </p:nvSpPr>
        <p:spPr>
          <a:xfrm>
            <a:off x="4197096" y="2267712"/>
            <a:ext cx="1536192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OF RECORD</a:t>
            </a:r>
            <a:endParaRPr lang="en-US" sz="600" dirty="0"/>
          </a:p>
        </p:txBody>
      </p:sp>
      <p:sp>
        <p:nvSpPr>
          <p:cNvPr id="402" name="Text 399"/>
          <p:cNvSpPr/>
          <p:nvPr/>
        </p:nvSpPr>
        <p:spPr>
          <a:xfrm>
            <a:off x="4215384" y="2496312"/>
            <a:ext cx="1499616" cy="886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issues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OKRs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context</a:t>
            </a:r>
            <a:endParaRPr lang="en-US" sz="940" dirty="0"/>
          </a:p>
        </p:txBody>
      </p:sp>
      <p:sp>
        <p:nvSpPr>
          <p:cNvPr id="403" name="Shape 400"/>
          <p:cNvSpPr/>
          <p:nvPr/>
        </p:nvSpPr>
        <p:spPr>
          <a:xfrm>
            <a:off x="6583680" y="2148840"/>
            <a:ext cx="1792224" cy="1325880"/>
          </a:xfrm>
          <a:prstGeom prst="roundRect">
            <a:avLst>
              <a:gd name="adj" fmla="val 3448"/>
            </a:avLst>
          </a:prstGeom>
          <a:solidFill>
            <a:srgbClr val="12183A"/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404" name="Text 401"/>
          <p:cNvSpPr/>
          <p:nvPr/>
        </p:nvSpPr>
        <p:spPr>
          <a:xfrm>
            <a:off x="6711696" y="2267712"/>
            <a:ext cx="1536192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OUTPUT</a:t>
            </a:r>
            <a:endParaRPr lang="en-US" sz="600" dirty="0"/>
          </a:p>
        </p:txBody>
      </p:sp>
      <p:sp>
        <p:nvSpPr>
          <p:cNvPr id="405" name="Text 402"/>
          <p:cNvSpPr/>
          <p:nvPr/>
        </p:nvSpPr>
        <p:spPr>
          <a:xfrm>
            <a:off x="6729984" y="2496312"/>
            <a:ext cx="1499616" cy="886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brief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prep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follow-ups</a:t>
            </a:r>
            <a:endParaRPr lang="en-US" sz="940" dirty="0"/>
          </a:p>
        </p:txBody>
      </p:sp>
      <p:sp>
        <p:nvSpPr>
          <p:cNvPr id="406" name="Shape 403"/>
          <p:cNvSpPr/>
          <p:nvPr/>
        </p:nvSpPr>
        <p:spPr>
          <a:xfrm>
            <a:off x="9098280" y="2148840"/>
            <a:ext cx="1719072" cy="1325880"/>
          </a:xfrm>
          <a:prstGeom prst="roundRect">
            <a:avLst>
              <a:gd name="adj" fmla="val 3448"/>
            </a:avLst>
          </a:prstGeom>
          <a:solidFill>
            <a:srgbClr val="12183A"/>
          </a:solidFill>
          <a:ln w="12700">
            <a:solidFill>
              <a:srgbClr val="FACC15">
                <a:alpha val="80000"/>
              </a:srgbClr>
            </a:solidFill>
            <a:prstDash val="solid"/>
          </a:ln>
        </p:spPr>
      </p:sp>
      <p:sp>
        <p:nvSpPr>
          <p:cNvPr id="407" name="Text 404"/>
          <p:cNvSpPr/>
          <p:nvPr/>
        </p:nvSpPr>
        <p:spPr>
          <a:xfrm>
            <a:off x="9226296" y="2267712"/>
            <a:ext cx="146304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USE</a:t>
            </a:r>
            <a:endParaRPr lang="en-US" sz="600" dirty="0"/>
          </a:p>
        </p:txBody>
      </p:sp>
      <p:sp>
        <p:nvSpPr>
          <p:cNvPr id="408" name="Text 405"/>
          <p:cNvSpPr/>
          <p:nvPr/>
        </p:nvSpPr>
        <p:spPr>
          <a:xfrm>
            <a:off x="9244584" y="2496312"/>
            <a:ext cx="1426464" cy="886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walks into meeting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oriented</a:t>
            </a:r>
            <a:endParaRPr lang="en-US" sz="940" dirty="0"/>
          </a:p>
        </p:txBody>
      </p:sp>
      <p:sp>
        <p:nvSpPr>
          <p:cNvPr id="409" name="Shape 406"/>
          <p:cNvSpPr/>
          <p:nvPr/>
        </p:nvSpPr>
        <p:spPr>
          <a:xfrm>
            <a:off x="3346704" y="2816352"/>
            <a:ext cx="722376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10" name="Shape 407"/>
          <p:cNvSpPr/>
          <p:nvPr/>
        </p:nvSpPr>
        <p:spPr>
          <a:xfrm>
            <a:off x="5870448" y="2816352"/>
            <a:ext cx="713232" cy="0"/>
          </a:xfrm>
          <a:prstGeom prst="line">
            <a:avLst/>
          </a:prstGeom>
          <a:noFill/>
          <a:ln w="1524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411" name="Shape 408"/>
          <p:cNvSpPr/>
          <p:nvPr/>
        </p:nvSpPr>
        <p:spPr>
          <a:xfrm>
            <a:off x="8375904" y="2816352"/>
            <a:ext cx="722376" cy="0"/>
          </a:xfrm>
          <a:prstGeom prst="line">
            <a:avLst/>
          </a:prstGeom>
          <a:noFill/>
          <a:ln w="15240">
            <a:solidFill>
              <a:srgbClr val="FACC15"/>
            </a:solidFill>
            <a:prstDash val="solid"/>
            <a:tailEnd type="triangle"/>
          </a:ln>
        </p:spPr>
      </p:sp>
      <p:sp>
        <p:nvSpPr>
          <p:cNvPr id="412" name="Shape 409"/>
          <p:cNvSpPr/>
          <p:nvPr/>
        </p:nvSpPr>
        <p:spPr>
          <a:xfrm>
            <a:off x="3108960" y="4754880"/>
            <a:ext cx="6035040" cy="530352"/>
          </a:xfrm>
          <a:prstGeom prst="roundRect">
            <a:avLst>
              <a:gd name="adj" fmla="val 10345"/>
            </a:avLst>
          </a:prstGeom>
          <a:solidFill>
            <a:srgbClr val="99F6E4">
              <a:alpha val="96000"/>
            </a:srgbClr>
          </a:solidFill>
          <a:ln w="12700">
            <a:solidFill>
              <a:srgbClr val="2DD4BF">
                <a:alpha val="75000"/>
              </a:srgbClr>
            </a:solidFill>
            <a:prstDash val="solid"/>
          </a:ln>
        </p:spPr>
      </p:sp>
      <p:sp>
        <p:nvSpPr>
          <p:cNvPr id="413" name="Text 410"/>
          <p:cNvSpPr/>
          <p:nvPr/>
        </p:nvSpPr>
        <p:spPr>
          <a:xfrm>
            <a:off x="3273552" y="4919472"/>
            <a:ext cx="570585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is trivial because the context is maintained.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822960"/>
            <a:ext cx="88696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Operationalise your process before you systematise your prompts.</a:t>
            </a:r>
            <a:endParaRPr lang="en-US" sz="2800" dirty="0"/>
          </a:p>
        </p:txBody>
      </p:sp>
      <p:sp>
        <p:nvSpPr>
          <p:cNvPr id="396" name="Shape 393"/>
          <p:cNvSpPr/>
          <p:nvPr/>
        </p:nvSpPr>
        <p:spPr>
          <a:xfrm>
            <a:off x="1536192" y="1554480"/>
            <a:ext cx="16916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1783080" y="3657600"/>
            <a:ext cx="1783080" cy="530352"/>
          </a:xfrm>
          <a:prstGeom prst="roundRect">
            <a:avLst>
              <a:gd name="adj" fmla="val 10345"/>
            </a:avLst>
          </a:prstGeom>
          <a:solidFill>
            <a:srgbClr val="EC4899">
              <a:alpha val="92000"/>
            </a:srgbClr>
          </a:solidFill>
          <a:ln w="12700">
            <a:solidFill>
              <a:srgbClr val="EC4899">
                <a:alpha val="75000"/>
              </a:srgbClr>
            </a:solidFill>
            <a:prstDash val="solid"/>
          </a:ln>
        </p:spPr>
      </p:sp>
      <p:sp>
        <p:nvSpPr>
          <p:cNvPr id="398" name="Text 395"/>
          <p:cNvSpPr/>
          <p:nvPr/>
        </p:nvSpPr>
        <p:spPr>
          <a:xfrm>
            <a:off x="1947672" y="3822192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handoffs</a:t>
            </a:r>
            <a:endParaRPr lang="en-US" sz="1020" dirty="0"/>
          </a:p>
        </p:txBody>
      </p:sp>
      <p:sp>
        <p:nvSpPr>
          <p:cNvPr id="399" name="Shape 396"/>
          <p:cNvSpPr/>
          <p:nvPr/>
        </p:nvSpPr>
        <p:spPr>
          <a:xfrm>
            <a:off x="3566160" y="3913632"/>
            <a:ext cx="548640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00" name="Shape 397"/>
          <p:cNvSpPr/>
          <p:nvPr/>
        </p:nvSpPr>
        <p:spPr>
          <a:xfrm>
            <a:off x="4142232" y="3657600"/>
            <a:ext cx="1783080" cy="530352"/>
          </a:xfrm>
          <a:prstGeom prst="roundRect">
            <a:avLst>
              <a:gd name="adj" fmla="val 10345"/>
            </a:avLst>
          </a:prstGeom>
          <a:solidFill>
            <a:srgbClr val="2DD4BF">
              <a:alpha val="92000"/>
            </a:srgbClr>
          </a:solidFill>
          <a:ln w="12700">
            <a:solidFill>
              <a:srgbClr val="2DD4BF">
                <a:alpha val="75000"/>
              </a:srgbClr>
            </a:solidFill>
            <a:prstDash val="solid"/>
          </a:ln>
        </p:spPr>
      </p:sp>
      <p:sp>
        <p:nvSpPr>
          <p:cNvPr id="401" name="Text 398"/>
          <p:cNvSpPr/>
          <p:nvPr/>
        </p:nvSpPr>
        <p:spPr>
          <a:xfrm>
            <a:off x="4306824" y="3822192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done</a:t>
            </a:r>
            <a:endParaRPr lang="en-US" sz="1020" dirty="0"/>
          </a:p>
        </p:txBody>
      </p:sp>
      <p:sp>
        <p:nvSpPr>
          <p:cNvPr id="402" name="Shape 399"/>
          <p:cNvSpPr/>
          <p:nvPr/>
        </p:nvSpPr>
        <p:spPr>
          <a:xfrm>
            <a:off x="5925312" y="3913632"/>
            <a:ext cx="548640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03" name="Shape 400"/>
          <p:cNvSpPr/>
          <p:nvPr/>
        </p:nvSpPr>
        <p:spPr>
          <a:xfrm>
            <a:off x="6501384" y="3657600"/>
            <a:ext cx="1783080" cy="530352"/>
          </a:xfrm>
          <a:prstGeom prst="roundRect">
            <a:avLst>
              <a:gd name="adj" fmla="val 10345"/>
            </a:avLst>
          </a:prstGeom>
          <a:solidFill>
            <a:srgbClr val="FACC15">
              <a:alpha val="92000"/>
            </a:srgbClr>
          </a:solidFill>
          <a:ln w="12700">
            <a:solidFill>
              <a:srgbClr val="FACC15">
                <a:alpha val="75000"/>
              </a:srgbClr>
            </a:solidFill>
            <a:prstDash val="solid"/>
          </a:ln>
        </p:spPr>
      </p:sp>
      <p:sp>
        <p:nvSpPr>
          <p:cNvPr id="404" name="Text 401"/>
          <p:cNvSpPr/>
          <p:nvPr/>
        </p:nvSpPr>
        <p:spPr>
          <a:xfrm>
            <a:off x="6665976" y="3822192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 knowledge</a:t>
            </a:r>
            <a:endParaRPr lang="en-US" sz="1020" dirty="0"/>
          </a:p>
        </p:txBody>
      </p:sp>
      <p:sp>
        <p:nvSpPr>
          <p:cNvPr id="405" name="Shape 402"/>
          <p:cNvSpPr/>
          <p:nvPr/>
        </p:nvSpPr>
        <p:spPr>
          <a:xfrm>
            <a:off x="8284464" y="3913632"/>
            <a:ext cx="548640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06" name="Shape 403"/>
          <p:cNvSpPr/>
          <p:nvPr/>
        </p:nvSpPr>
        <p:spPr>
          <a:xfrm>
            <a:off x="8860536" y="3657600"/>
            <a:ext cx="1783080" cy="530352"/>
          </a:xfrm>
          <a:prstGeom prst="roundRect">
            <a:avLst>
              <a:gd name="adj" fmla="val 10345"/>
            </a:avLst>
          </a:prstGeom>
          <a:solidFill>
            <a:srgbClr val="60A5FA">
              <a:alpha val="92000"/>
            </a:srgbClr>
          </a:solidFill>
          <a:ln w="12700">
            <a:solidFill>
              <a:srgbClr val="60A5FA">
                <a:alpha val="75000"/>
              </a:srgbClr>
            </a:solidFill>
            <a:prstDash val="solid"/>
          </a:ln>
        </p:spPr>
      </p:sp>
      <p:sp>
        <p:nvSpPr>
          <p:cNvPr id="407" name="Text 404"/>
          <p:cNvSpPr/>
          <p:nvPr/>
        </p:nvSpPr>
        <p:spPr>
          <a:xfrm>
            <a:off x="9025128" y="3822192"/>
            <a:ext cx="1453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systematise</a:t>
            </a:r>
            <a:endParaRPr lang="en-US" sz="1020" dirty="0"/>
          </a:p>
        </p:txBody>
      </p:sp>
      <p:sp>
        <p:nvSpPr>
          <p:cNvPr id="408" name="Shape 405"/>
          <p:cNvSpPr/>
          <p:nvPr/>
        </p:nvSpPr>
        <p:spPr>
          <a:xfrm>
            <a:off x="4343400" y="5138928"/>
            <a:ext cx="3291840" cy="420624"/>
          </a:xfrm>
          <a:prstGeom prst="roundRect">
            <a:avLst>
              <a:gd name="adj" fmla="val 10870"/>
            </a:avLst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88000"/>
              </a:srgbClr>
            </a:solidFill>
            <a:prstDash val="solid"/>
          </a:ln>
        </p:spPr>
      </p:sp>
      <p:sp>
        <p:nvSpPr>
          <p:cNvPr id="409" name="Text 406"/>
          <p:cNvSpPr/>
          <p:nvPr/>
        </p:nvSpPr>
        <p:spPr>
          <a:xfrm>
            <a:off x="4434840" y="5276088"/>
            <a:ext cx="310896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OTHERWISE THE DEFAULTS DECIDE *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Shape 392"/>
          <p:cNvSpPr/>
          <p:nvPr/>
        </p:nvSpPr>
        <p:spPr>
          <a:xfrm>
            <a:off x="1572768" y="1005840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88000"/>
              </a:srgbClr>
            </a:solidFill>
            <a:prstDash val="solid"/>
          </a:ln>
        </p:spPr>
      </p:sp>
      <p:sp>
        <p:nvSpPr>
          <p:cNvPr id="396" name="Text 393"/>
          <p:cNvSpPr/>
          <p:nvPr/>
        </p:nvSpPr>
        <p:spPr>
          <a:xfrm>
            <a:off x="1664208" y="1143000"/>
            <a:ext cx="137160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FIELD STOP 02 *</a:t>
            </a:r>
            <a:endParaRPr lang="en-US" sz="600" dirty="0"/>
          </a:p>
        </p:txBody>
      </p:sp>
      <p:sp>
        <p:nvSpPr>
          <p:cNvPr id="397" name="Text 394"/>
          <p:cNvSpPr/>
          <p:nvPr/>
        </p:nvSpPr>
        <p:spPr>
          <a:xfrm>
            <a:off x="1572768" y="1700784"/>
            <a:ext cx="38404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</a:t>
            </a:r>
            <a:endParaRPr lang="en-US" sz="3600" dirty="0"/>
          </a:p>
        </p:txBody>
      </p:sp>
      <p:sp>
        <p:nvSpPr>
          <p:cNvPr id="398" name="Shape 395"/>
          <p:cNvSpPr/>
          <p:nvPr/>
        </p:nvSpPr>
        <p:spPr>
          <a:xfrm>
            <a:off x="7635240" y="1097280"/>
            <a:ext cx="3200400" cy="2743200"/>
          </a:xfrm>
          <a:prstGeom prst="roundRect">
            <a:avLst>
              <a:gd name="adj" fmla="val 2000"/>
            </a:avLst>
          </a:prstGeom>
          <a:solidFill>
            <a:srgbClr val="12183A"/>
          </a:solidFill>
          <a:ln w="12700">
            <a:solidFill>
              <a:srgbClr val="60A5FA">
                <a:alpha val="5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399" name="Shape 396"/>
          <p:cNvSpPr/>
          <p:nvPr/>
        </p:nvSpPr>
        <p:spPr>
          <a:xfrm>
            <a:off x="7635240" y="1097280"/>
            <a:ext cx="320040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00" name="Text 397"/>
          <p:cNvSpPr/>
          <p:nvPr/>
        </p:nvSpPr>
        <p:spPr>
          <a:xfrm>
            <a:off x="7799832" y="1216152"/>
            <a:ext cx="256032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with workflow/event photo</a:t>
            </a:r>
            <a:endParaRPr lang="en-US" sz="680" dirty="0"/>
          </a:p>
        </p:txBody>
      </p:sp>
      <p:sp>
        <p:nvSpPr>
          <p:cNvPr id="401" name="Shape 398"/>
          <p:cNvSpPr/>
          <p:nvPr/>
        </p:nvSpPr>
        <p:spPr>
          <a:xfrm>
            <a:off x="10433304" y="1234440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02" name="Shape 399"/>
          <p:cNvSpPr/>
          <p:nvPr/>
        </p:nvSpPr>
        <p:spPr>
          <a:xfrm>
            <a:off x="10552176" y="1234440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03" name="Shape 400"/>
          <p:cNvSpPr/>
          <p:nvPr/>
        </p:nvSpPr>
        <p:spPr>
          <a:xfrm>
            <a:off x="10671048" y="1234440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pic>
        <p:nvPicPr>
          <p:cNvPr id="404" name="Image 0" descr="/Users/fatimasarahkhalid/Sites/_keynotes/agent-craft-2026/deck/assets/placeholders/openclaw-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810512"/>
            <a:ext cx="2926080" cy="1645920"/>
          </a:xfrm>
          <a:prstGeom prst="rect">
            <a:avLst/>
          </a:prstGeom>
        </p:spPr>
      </p:pic>
      <p:sp>
        <p:nvSpPr>
          <p:cNvPr id="405" name="Shape 401"/>
          <p:cNvSpPr/>
          <p:nvPr/>
        </p:nvSpPr>
        <p:spPr>
          <a:xfrm>
            <a:off x="7891272" y="3438144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60A5FA">
              <a:alpha val="14000"/>
            </a:srgbClr>
          </a:solidFill>
          <a:ln w="1270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406" name="Text 402"/>
          <p:cNvSpPr/>
          <p:nvPr/>
        </p:nvSpPr>
        <p:spPr>
          <a:xfrm>
            <a:off x="7964424" y="3543300"/>
            <a:ext cx="1088136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IMAGE</a:t>
            </a:r>
            <a:endParaRPr lang="en-US" sz="550" dirty="0"/>
          </a:p>
        </p:txBody>
      </p:sp>
      <p:sp>
        <p:nvSpPr>
          <p:cNvPr id="407" name="Shape 403"/>
          <p:cNvSpPr/>
          <p:nvPr/>
        </p:nvSpPr>
        <p:spPr>
          <a:xfrm>
            <a:off x="1682496" y="3310128"/>
            <a:ext cx="5166360" cy="1508760"/>
          </a:xfrm>
          <a:prstGeom prst="roundRect">
            <a:avLst>
              <a:gd name="adj" fmla="val 3636"/>
            </a:avLst>
          </a:prstGeom>
          <a:solidFill>
            <a:srgbClr val="12183A"/>
          </a:solidFill>
          <a:ln w="12700">
            <a:solidFill>
              <a:srgbClr val="60A5FA">
                <a:alpha val="2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408" name="Shape 404"/>
          <p:cNvSpPr/>
          <p:nvPr/>
        </p:nvSpPr>
        <p:spPr>
          <a:xfrm>
            <a:off x="1682496" y="3310128"/>
            <a:ext cx="516636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09" name="Text 405"/>
          <p:cNvSpPr/>
          <p:nvPr/>
        </p:nvSpPr>
        <p:spPr>
          <a:xfrm>
            <a:off x="1847088" y="3429000"/>
            <a:ext cx="452628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operational-loop.md</a:t>
            </a:r>
            <a:endParaRPr lang="en-US" sz="680" dirty="0"/>
          </a:p>
        </p:txBody>
      </p:sp>
      <p:sp>
        <p:nvSpPr>
          <p:cNvPr id="410" name="Shape 406"/>
          <p:cNvSpPr/>
          <p:nvPr/>
        </p:nvSpPr>
        <p:spPr>
          <a:xfrm>
            <a:off x="6446520" y="3447288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11" name="Shape 407"/>
          <p:cNvSpPr/>
          <p:nvPr/>
        </p:nvSpPr>
        <p:spPr>
          <a:xfrm>
            <a:off x="6565392" y="3447288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12" name="Shape 408"/>
          <p:cNvSpPr/>
          <p:nvPr/>
        </p:nvSpPr>
        <p:spPr>
          <a:xfrm>
            <a:off x="6684264" y="3447288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sp>
        <p:nvSpPr>
          <p:cNvPr id="413" name="Text 409"/>
          <p:cNvSpPr/>
          <p:nvPr/>
        </p:nvSpPr>
        <p:spPr>
          <a:xfrm>
            <a:off x="2029968" y="3858768"/>
            <a:ext cx="4480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agents stop being occasionally impressive and start being useful.</a:t>
            </a:r>
            <a:endParaRPr lang="en-US" sz="1700" dirty="0"/>
          </a:p>
        </p:txBody>
      </p:sp>
      <p:sp>
        <p:nvSpPr>
          <p:cNvPr id="414" name="Shape 410"/>
          <p:cNvSpPr/>
          <p:nvPr/>
        </p:nvSpPr>
        <p:spPr>
          <a:xfrm>
            <a:off x="2148840" y="5321808"/>
            <a:ext cx="2926080" cy="310896"/>
          </a:xfrm>
          <a:prstGeom prst="roundRect">
            <a:avLst>
              <a:gd name="adj" fmla="val 35294"/>
            </a:avLst>
          </a:prstGeom>
          <a:solidFill>
            <a:srgbClr val="FACC15">
              <a:alpha val="14000"/>
            </a:srgbClr>
          </a:solidFill>
          <a:ln w="12700">
            <a:solidFill>
              <a:srgbClr val="FACC15">
                <a:alpha val="65000"/>
              </a:srgbClr>
            </a:solidFill>
            <a:prstDash val="solid"/>
          </a:ln>
        </p:spPr>
      </p:sp>
      <p:sp>
        <p:nvSpPr>
          <p:cNvPr id="415" name="Text 411"/>
          <p:cNvSpPr/>
          <p:nvPr/>
        </p:nvSpPr>
        <p:spPr>
          <a:xfrm>
            <a:off x="2221992" y="5426964"/>
            <a:ext cx="2779776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050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THE AGENT TOUCHES REAL WORK</a:t>
            </a:r>
            <a:endParaRPr lang="en-US" sz="5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822960"/>
            <a:ext cx="88696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Window-washing intake loop</a:t>
            </a:r>
            <a:endParaRPr lang="en-US" sz="2800" dirty="0"/>
          </a:p>
        </p:txBody>
      </p:sp>
      <p:sp>
        <p:nvSpPr>
          <p:cNvPr id="396" name="Shape 393"/>
          <p:cNvSpPr/>
          <p:nvPr/>
        </p:nvSpPr>
        <p:spPr>
          <a:xfrm>
            <a:off x="1536192" y="1554480"/>
            <a:ext cx="16916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1591056" y="1828800"/>
            <a:ext cx="4434840" cy="3429000"/>
          </a:xfrm>
          <a:prstGeom prst="roundRect">
            <a:avLst>
              <a:gd name="adj" fmla="val 1600"/>
            </a:avLst>
          </a:prstGeom>
          <a:solidFill>
            <a:srgbClr val="12183A"/>
          </a:solidFill>
          <a:ln w="12700">
            <a:solidFill>
              <a:srgbClr val="60A5FA">
                <a:alpha val="2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398" name="Shape 395"/>
          <p:cNvSpPr/>
          <p:nvPr/>
        </p:nvSpPr>
        <p:spPr>
          <a:xfrm>
            <a:off x="1591056" y="1828800"/>
            <a:ext cx="443484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399" name="Text 396"/>
          <p:cNvSpPr/>
          <p:nvPr/>
        </p:nvSpPr>
        <p:spPr>
          <a:xfrm>
            <a:off x="1755648" y="1947672"/>
            <a:ext cx="379476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intake-agent.workflow</a:t>
            </a:r>
            <a:endParaRPr lang="en-US" sz="680" dirty="0"/>
          </a:p>
        </p:txBody>
      </p:sp>
      <p:sp>
        <p:nvSpPr>
          <p:cNvPr id="400" name="Shape 397"/>
          <p:cNvSpPr/>
          <p:nvPr/>
        </p:nvSpPr>
        <p:spPr>
          <a:xfrm>
            <a:off x="5623560" y="1965960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01" name="Shape 398"/>
          <p:cNvSpPr/>
          <p:nvPr/>
        </p:nvSpPr>
        <p:spPr>
          <a:xfrm>
            <a:off x="5742432" y="1965960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02" name="Shape 399"/>
          <p:cNvSpPr/>
          <p:nvPr/>
        </p:nvSpPr>
        <p:spPr>
          <a:xfrm>
            <a:off x="5861304" y="1965960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sp>
        <p:nvSpPr>
          <p:cNvPr id="403" name="Text 400"/>
          <p:cNvSpPr/>
          <p:nvPr/>
        </p:nvSpPr>
        <p:spPr>
          <a:xfrm>
            <a:off x="1938528" y="2542032"/>
            <a:ext cx="361188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 agent takes calls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classifies job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 schedule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adds review queue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confirms</a:t>
            </a:r>
            <a:endParaRPr lang="en-US" sz="1400" dirty="0"/>
          </a:p>
        </p:txBody>
      </p:sp>
      <p:sp>
        <p:nvSpPr>
          <p:cNvPr id="404" name="Shape 401"/>
          <p:cNvSpPr/>
          <p:nvPr/>
        </p:nvSpPr>
        <p:spPr>
          <a:xfrm>
            <a:off x="6400800" y="1828800"/>
            <a:ext cx="4434840" cy="3429000"/>
          </a:xfrm>
          <a:prstGeom prst="roundRect">
            <a:avLst>
              <a:gd name="adj" fmla="val 1600"/>
            </a:avLst>
          </a:prstGeom>
          <a:solidFill>
            <a:srgbClr val="12183A"/>
          </a:solidFill>
          <a:ln w="12700">
            <a:solidFill>
              <a:srgbClr val="EC4899">
                <a:alpha val="2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405" name="Shape 402"/>
          <p:cNvSpPr/>
          <p:nvPr/>
        </p:nvSpPr>
        <p:spPr>
          <a:xfrm>
            <a:off x="6400800" y="1828800"/>
            <a:ext cx="443484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06" name="Text 403"/>
          <p:cNvSpPr/>
          <p:nvPr/>
        </p:nvSpPr>
        <p:spPr>
          <a:xfrm>
            <a:off x="6565392" y="1947672"/>
            <a:ext cx="379476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breakpoints</a:t>
            </a:r>
            <a:endParaRPr lang="en-US" sz="680" dirty="0"/>
          </a:p>
        </p:txBody>
      </p:sp>
      <p:sp>
        <p:nvSpPr>
          <p:cNvPr id="407" name="Shape 404"/>
          <p:cNvSpPr/>
          <p:nvPr/>
        </p:nvSpPr>
        <p:spPr>
          <a:xfrm>
            <a:off x="10433304" y="1965960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08" name="Shape 405"/>
          <p:cNvSpPr/>
          <p:nvPr/>
        </p:nvSpPr>
        <p:spPr>
          <a:xfrm>
            <a:off x="10552176" y="1965960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09" name="Shape 406"/>
          <p:cNvSpPr/>
          <p:nvPr/>
        </p:nvSpPr>
        <p:spPr>
          <a:xfrm>
            <a:off x="10671048" y="1965960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sp>
        <p:nvSpPr>
          <p:cNvPr id="410" name="Text 407"/>
          <p:cNvSpPr/>
          <p:nvPr/>
        </p:nvSpPr>
        <p:spPr>
          <a:xfrm>
            <a:off x="6748272" y="2542032"/>
            <a:ext cx="3611880" cy="1389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cannot describe windows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photo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 needs judgement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escalation boundary becomes the product</a:t>
            </a:r>
            <a:endParaRPr lang="en-US" sz="1400" dirty="0"/>
          </a:p>
        </p:txBody>
      </p:sp>
      <p:sp>
        <p:nvSpPr>
          <p:cNvPr id="411" name="Shape 408"/>
          <p:cNvSpPr/>
          <p:nvPr/>
        </p:nvSpPr>
        <p:spPr>
          <a:xfrm>
            <a:off x="3977640" y="5715000"/>
            <a:ext cx="4434840" cy="310896"/>
          </a:xfrm>
          <a:prstGeom prst="roundRect">
            <a:avLst>
              <a:gd name="adj" fmla="val 35294"/>
            </a:avLst>
          </a:prstGeom>
          <a:solidFill>
            <a:srgbClr val="60A5FA">
              <a:alpha val="14000"/>
            </a:srgbClr>
          </a:solidFill>
          <a:ln w="1270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412" name="Text 409"/>
          <p:cNvSpPr/>
          <p:nvPr/>
        </p:nvSpPr>
        <p:spPr>
          <a:xfrm>
            <a:off x="4050792" y="5820156"/>
            <a:ext cx="4288536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-&gt; CLASSIFY -&gt; CALENDAR -&gt; REVIEW -&gt; HUMAN</a:t>
            </a:r>
            <a:endParaRPr lang="en-US" sz="5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822960"/>
            <a:ext cx="88696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two systems, translation is governance.</a:t>
            </a:r>
            <a:endParaRPr lang="en-US" sz="2800" dirty="0"/>
          </a:p>
        </p:txBody>
      </p:sp>
      <p:sp>
        <p:nvSpPr>
          <p:cNvPr id="396" name="Shape 393"/>
          <p:cNvSpPr/>
          <p:nvPr/>
        </p:nvSpPr>
        <p:spPr>
          <a:xfrm>
            <a:off x="1536192" y="1554480"/>
            <a:ext cx="16916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1682496" y="1828800"/>
            <a:ext cx="3017520" cy="2286000"/>
          </a:xfrm>
          <a:prstGeom prst="roundRect">
            <a:avLst>
              <a:gd name="adj" fmla="val 2400"/>
            </a:avLst>
          </a:prstGeom>
          <a:solidFill>
            <a:srgbClr val="12183A"/>
          </a:solidFill>
          <a:ln w="12700">
            <a:solidFill>
              <a:srgbClr val="2DD4BF">
                <a:alpha val="2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398" name="Shape 395"/>
          <p:cNvSpPr/>
          <p:nvPr/>
        </p:nvSpPr>
        <p:spPr>
          <a:xfrm>
            <a:off x="1682496" y="1828800"/>
            <a:ext cx="301752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399" name="Text 396"/>
          <p:cNvSpPr/>
          <p:nvPr/>
        </p:nvSpPr>
        <p:spPr>
          <a:xfrm>
            <a:off x="1847088" y="1947672"/>
            <a:ext cx="237744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Asana</a:t>
            </a:r>
            <a:endParaRPr lang="en-US" sz="680" dirty="0"/>
          </a:p>
        </p:txBody>
      </p:sp>
      <p:sp>
        <p:nvSpPr>
          <p:cNvPr id="400" name="Shape 397"/>
          <p:cNvSpPr/>
          <p:nvPr/>
        </p:nvSpPr>
        <p:spPr>
          <a:xfrm>
            <a:off x="4297680" y="1965960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01" name="Shape 398"/>
          <p:cNvSpPr/>
          <p:nvPr/>
        </p:nvSpPr>
        <p:spPr>
          <a:xfrm>
            <a:off x="4416552" y="1965960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02" name="Shape 399"/>
          <p:cNvSpPr/>
          <p:nvPr/>
        </p:nvSpPr>
        <p:spPr>
          <a:xfrm>
            <a:off x="4535424" y="1965960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sp>
        <p:nvSpPr>
          <p:cNvPr id="403" name="Text 400"/>
          <p:cNvSpPr/>
          <p:nvPr/>
        </p:nvSpPr>
        <p:spPr>
          <a:xfrm>
            <a:off x="1993392" y="2670048"/>
            <a:ext cx="239572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keeps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the brief</a:t>
            </a:r>
            <a:endParaRPr lang="en-US" sz="1800" dirty="0"/>
          </a:p>
        </p:txBody>
      </p:sp>
      <p:sp>
        <p:nvSpPr>
          <p:cNvPr id="404" name="Shape 401"/>
          <p:cNvSpPr/>
          <p:nvPr/>
        </p:nvSpPr>
        <p:spPr>
          <a:xfrm>
            <a:off x="5120640" y="2212848"/>
            <a:ext cx="2011680" cy="1554480"/>
          </a:xfrm>
          <a:prstGeom prst="roundRect">
            <a:avLst>
              <a:gd name="adj" fmla="val 3529"/>
            </a:avLst>
          </a:prstGeom>
          <a:solidFill>
            <a:srgbClr val="12183A"/>
          </a:solidFill>
          <a:ln w="12700">
            <a:solidFill>
              <a:srgbClr val="FACC15">
                <a:alpha val="2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405" name="Shape 402"/>
          <p:cNvSpPr/>
          <p:nvPr/>
        </p:nvSpPr>
        <p:spPr>
          <a:xfrm>
            <a:off x="5120640" y="2212848"/>
            <a:ext cx="201168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06" name="Text 403"/>
          <p:cNvSpPr/>
          <p:nvPr/>
        </p:nvSpPr>
        <p:spPr>
          <a:xfrm>
            <a:off x="5285232" y="2331720"/>
            <a:ext cx="137160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gate</a:t>
            </a:r>
            <a:endParaRPr lang="en-US" sz="680" dirty="0"/>
          </a:p>
        </p:txBody>
      </p:sp>
      <p:sp>
        <p:nvSpPr>
          <p:cNvPr id="407" name="Shape 404"/>
          <p:cNvSpPr/>
          <p:nvPr/>
        </p:nvSpPr>
        <p:spPr>
          <a:xfrm>
            <a:off x="6729984" y="2350008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08" name="Shape 405"/>
          <p:cNvSpPr/>
          <p:nvPr/>
        </p:nvSpPr>
        <p:spPr>
          <a:xfrm>
            <a:off x="6848856" y="2350008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09" name="Shape 406"/>
          <p:cNvSpPr/>
          <p:nvPr/>
        </p:nvSpPr>
        <p:spPr>
          <a:xfrm>
            <a:off x="6967728" y="2350008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sp>
        <p:nvSpPr>
          <p:cNvPr id="410" name="Text 407"/>
          <p:cNvSpPr/>
          <p:nvPr/>
        </p:nvSpPr>
        <p:spPr>
          <a:xfrm>
            <a:off x="5358384" y="2779776"/>
            <a:ext cx="153619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policy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never-translate list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boundary</a:t>
            </a:r>
            <a:endParaRPr lang="en-US" sz="1050" dirty="0"/>
          </a:p>
        </p:txBody>
      </p:sp>
      <p:sp>
        <p:nvSpPr>
          <p:cNvPr id="411" name="Shape 408"/>
          <p:cNvSpPr/>
          <p:nvPr/>
        </p:nvSpPr>
        <p:spPr>
          <a:xfrm>
            <a:off x="7589520" y="1828800"/>
            <a:ext cx="3017520" cy="2286000"/>
          </a:xfrm>
          <a:prstGeom prst="roundRect">
            <a:avLst>
              <a:gd name="adj" fmla="val 2400"/>
            </a:avLst>
          </a:prstGeom>
          <a:solidFill>
            <a:srgbClr val="12183A"/>
          </a:solidFill>
          <a:ln w="12700">
            <a:solidFill>
              <a:srgbClr val="EC4899">
                <a:alpha val="2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412" name="Shape 409"/>
          <p:cNvSpPr/>
          <p:nvPr/>
        </p:nvSpPr>
        <p:spPr>
          <a:xfrm>
            <a:off x="7589520" y="1828800"/>
            <a:ext cx="301752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13" name="Text 410"/>
          <p:cNvSpPr/>
          <p:nvPr/>
        </p:nvSpPr>
        <p:spPr>
          <a:xfrm>
            <a:off x="7754112" y="1947672"/>
            <a:ext cx="237744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Jira</a:t>
            </a:r>
            <a:endParaRPr lang="en-US" sz="680" dirty="0"/>
          </a:p>
        </p:txBody>
      </p:sp>
      <p:sp>
        <p:nvSpPr>
          <p:cNvPr id="414" name="Shape 411"/>
          <p:cNvSpPr/>
          <p:nvPr/>
        </p:nvSpPr>
        <p:spPr>
          <a:xfrm>
            <a:off x="10204704" y="1965960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15" name="Shape 412"/>
          <p:cNvSpPr/>
          <p:nvPr/>
        </p:nvSpPr>
        <p:spPr>
          <a:xfrm>
            <a:off x="10323576" y="1965960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16" name="Shape 413"/>
          <p:cNvSpPr/>
          <p:nvPr/>
        </p:nvSpPr>
        <p:spPr>
          <a:xfrm>
            <a:off x="10442448" y="1965960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sp>
        <p:nvSpPr>
          <p:cNvPr id="417" name="Text 414"/>
          <p:cNvSpPr/>
          <p:nvPr/>
        </p:nvSpPr>
        <p:spPr>
          <a:xfrm>
            <a:off x="7918704" y="2798064"/>
            <a:ext cx="235915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faithfully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posted outward</a:t>
            </a:r>
            <a:endParaRPr lang="en-US" sz="2000" dirty="0"/>
          </a:p>
        </p:txBody>
      </p:sp>
      <p:sp>
        <p:nvSpPr>
          <p:cNvPr id="418" name="Shape 415"/>
          <p:cNvSpPr/>
          <p:nvPr/>
        </p:nvSpPr>
        <p:spPr>
          <a:xfrm>
            <a:off x="4700016" y="2971800"/>
            <a:ext cx="420624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19" name="Shape 416"/>
          <p:cNvSpPr/>
          <p:nvPr/>
        </p:nvSpPr>
        <p:spPr>
          <a:xfrm>
            <a:off x="7132320" y="2971800"/>
            <a:ext cx="457200" cy="0"/>
          </a:xfrm>
          <a:prstGeom prst="line">
            <a:avLst/>
          </a:prstGeom>
          <a:noFill/>
          <a:ln w="1524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420" name="Shape 417"/>
          <p:cNvSpPr/>
          <p:nvPr/>
        </p:nvSpPr>
        <p:spPr>
          <a:xfrm>
            <a:off x="3840480" y="5074920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B7185">
              <a:alpha val="92000"/>
            </a:srgbClr>
          </a:solidFill>
          <a:ln w="12700">
            <a:solidFill>
              <a:srgbClr val="FB7185">
                <a:alpha val="75000"/>
              </a:srgbClr>
            </a:solidFill>
            <a:prstDash val="solid"/>
          </a:ln>
        </p:spPr>
      </p:sp>
      <p:sp>
        <p:nvSpPr>
          <p:cNvPr id="421" name="Text 418"/>
          <p:cNvSpPr/>
          <p:nvPr/>
        </p:nvSpPr>
        <p:spPr>
          <a:xfrm>
            <a:off x="4005072" y="5239512"/>
            <a:ext cx="387705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sources of truth is worse than none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Shape 392"/>
          <p:cNvSpPr/>
          <p:nvPr/>
        </p:nvSpPr>
        <p:spPr>
          <a:xfrm>
            <a:off x="1572768" y="1005840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FACC15">
              <a:alpha val="16000"/>
            </a:srgbClr>
          </a:solidFill>
          <a:ln w="12700">
            <a:solidFill>
              <a:srgbClr val="FACC15">
                <a:alpha val="88000"/>
              </a:srgbClr>
            </a:solidFill>
            <a:prstDash val="solid"/>
          </a:ln>
        </p:spPr>
      </p:sp>
      <p:sp>
        <p:nvSpPr>
          <p:cNvPr id="396" name="Text 393"/>
          <p:cNvSpPr/>
          <p:nvPr/>
        </p:nvSpPr>
        <p:spPr>
          <a:xfrm>
            <a:off x="1664208" y="1143000"/>
            <a:ext cx="137160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FIELD STOP 03 *</a:t>
            </a:r>
            <a:endParaRPr lang="en-US" sz="600" dirty="0"/>
          </a:p>
        </p:txBody>
      </p:sp>
      <p:sp>
        <p:nvSpPr>
          <p:cNvPr id="397" name="Text 394"/>
          <p:cNvSpPr/>
          <p:nvPr/>
        </p:nvSpPr>
        <p:spPr>
          <a:xfrm>
            <a:off x="1572768" y="1700784"/>
            <a:ext cx="56692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Factories -&gt; systems</a:t>
            </a:r>
            <a:endParaRPr lang="en-US" sz="3600" dirty="0"/>
          </a:p>
        </p:txBody>
      </p:sp>
      <p:sp>
        <p:nvSpPr>
          <p:cNvPr id="398" name="Shape 395"/>
          <p:cNvSpPr/>
          <p:nvPr/>
        </p:nvSpPr>
        <p:spPr>
          <a:xfrm>
            <a:off x="1828800" y="3337560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2DD4BF">
              <a:alpha val="88000"/>
            </a:srgbClr>
          </a:solidFill>
          <a:ln w="12700">
            <a:solidFill>
              <a:srgbClr val="2DD4BF">
                <a:alpha val="70000"/>
              </a:srgbClr>
            </a:solidFill>
            <a:prstDash val="solid"/>
          </a:ln>
        </p:spPr>
      </p:sp>
      <p:sp>
        <p:nvSpPr>
          <p:cNvPr id="399" name="Text 396"/>
          <p:cNvSpPr/>
          <p:nvPr/>
        </p:nvSpPr>
        <p:spPr>
          <a:xfrm>
            <a:off x="1993392" y="3502152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01</a:t>
            </a:r>
            <a:endParaRPr lang="en-US" sz="570" dirty="0"/>
          </a:p>
        </p:txBody>
      </p:sp>
      <p:sp>
        <p:nvSpPr>
          <p:cNvPr id="400" name="Shape 397"/>
          <p:cNvSpPr/>
          <p:nvPr/>
        </p:nvSpPr>
        <p:spPr>
          <a:xfrm>
            <a:off x="3246120" y="3337560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60A5FA">
              <a:alpha val="88000"/>
            </a:srgbClr>
          </a:solidFill>
          <a:ln w="12700">
            <a:solidFill>
              <a:srgbClr val="60A5FA">
                <a:alpha val="70000"/>
              </a:srgbClr>
            </a:solidFill>
            <a:prstDash val="solid"/>
          </a:ln>
        </p:spPr>
      </p:sp>
      <p:sp>
        <p:nvSpPr>
          <p:cNvPr id="401" name="Text 398"/>
          <p:cNvSpPr/>
          <p:nvPr/>
        </p:nvSpPr>
        <p:spPr>
          <a:xfrm>
            <a:off x="3410712" y="3502152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02</a:t>
            </a:r>
            <a:endParaRPr lang="en-US" sz="570" dirty="0"/>
          </a:p>
        </p:txBody>
      </p:sp>
      <p:sp>
        <p:nvSpPr>
          <p:cNvPr id="402" name="Shape 399"/>
          <p:cNvSpPr/>
          <p:nvPr/>
        </p:nvSpPr>
        <p:spPr>
          <a:xfrm>
            <a:off x="4663440" y="3337560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FACC15">
              <a:alpha val="88000"/>
            </a:srgbClr>
          </a:solidFill>
          <a:ln w="12700">
            <a:solidFill>
              <a:srgbClr val="FACC15">
                <a:alpha val="70000"/>
              </a:srgbClr>
            </a:solidFill>
            <a:prstDash val="solid"/>
          </a:ln>
        </p:spPr>
      </p:sp>
      <p:sp>
        <p:nvSpPr>
          <p:cNvPr id="403" name="Text 400"/>
          <p:cNvSpPr/>
          <p:nvPr/>
        </p:nvSpPr>
        <p:spPr>
          <a:xfrm>
            <a:off x="4828032" y="3502152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050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03</a:t>
            </a:r>
            <a:endParaRPr lang="en-US" sz="570" dirty="0"/>
          </a:p>
        </p:txBody>
      </p:sp>
      <p:sp>
        <p:nvSpPr>
          <p:cNvPr id="404" name="Shape 401"/>
          <p:cNvSpPr/>
          <p:nvPr/>
        </p:nvSpPr>
        <p:spPr>
          <a:xfrm>
            <a:off x="6080760" y="3337560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EC4899">
              <a:alpha val="88000"/>
            </a:srgbClr>
          </a:solidFill>
          <a:ln w="12700">
            <a:solidFill>
              <a:srgbClr val="EC4899">
                <a:alpha val="70000"/>
              </a:srgbClr>
            </a:solidFill>
            <a:prstDash val="solid"/>
          </a:ln>
        </p:spPr>
      </p:sp>
      <p:sp>
        <p:nvSpPr>
          <p:cNvPr id="405" name="Text 402"/>
          <p:cNvSpPr/>
          <p:nvPr/>
        </p:nvSpPr>
        <p:spPr>
          <a:xfrm>
            <a:off x="6245352" y="3502152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04</a:t>
            </a:r>
            <a:endParaRPr lang="en-US" sz="570" dirty="0"/>
          </a:p>
        </p:txBody>
      </p:sp>
      <p:sp>
        <p:nvSpPr>
          <p:cNvPr id="406" name="Shape 403"/>
          <p:cNvSpPr/>
          <p:nvPr/>
        </p:nvSpPr>
        <p:spPr>
          <a:xfrm>
            <a:off x="7498080" y="3337560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A855F7">
              <a:alpha val="88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</p:sp>
      <p:sp>
        <p:nvSpPr>
          <p:cNvPr id="407" name="Text 404"/>
          <p:cNvSpPr/>
          <p:nvPr/>
        </p:nvSpPr>
        <p:spPr>
          <a:xfrm>
            <a:off x="7662672" y="3502152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05</a:t>
            </a:r>
            <a:endParaRPr lang="en-US" sz="570" dirty="0"/>
          </a:p>
        </p:txBody>
      </p:sp>
      <p:sp>
        <p:nvSpPr>
          <p:cNvPr id="408" name="Shape 405"/>
          <p:cNvSpPr/>
          <p:nvPr/>
        </p:nvSpPr>
        <p:spPr>
          <a:xfrm>
            <a:off x="8915400" y="3337560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99F6E4">
              <a:alpha val="88000"/>
            </a:srgbClr>
          </a:solidFill>
          <a:ln w="12700">
            <a:solidFill>
              <a:srgbClr val="99F6E4">
                <a:alpha val="70000"/>
              </a:srgbClr>
            </a:solidFill>
            <a:prstDash val="solid"/>
          </a:ln>
        </p:spPr>
      </p:sp>
      <p:sp>
        <p:nvSpPr>
          <p:cNvPr id="409" name="Text 406"/>
          <p:cNvSpPr/>
          <p:nvPr/>
        </p:nvSpPr>
        <p:spPr>
          <a:xfrm>
            <a:off x="9079992" y="3502152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050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06</a:t>
            </a:r>
            <a:endParaRPr lang="en-US" sz="570" dirty="0"/>
          </a:p>
        </p:txBody>
      </p:sp>
      <p:sp>
        <p:nvSpPr>
          <p:cNvPr id="410" name="Shape 407"/>
          <p:cNvSpPr/>
          <p:nvPr/>
        </p:nvSpPr>
        <p:spPr>
          <a:xfrm>
            <a:off x="1828800" y="3867912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2DD4BF">
              <a:alpha val="88000"/>
            </a:srgbClr>
          </a:solidFill>
          <a:ln w="12700">
            <a:solidFill>
              <a:srgbClr val="2DD4BF">
                <a:alpha val="70000"/>
              </a:srgbClr>
            </a:solidFill>
            <a:prstDash val="solid"/>
          </a:ln>
        </p:spPr>
      </p:sp>
      <p:sp>
        <p:nvSpPr>
          <p:cNvPr id="411" name="Text 408"/>
          <p:cNvSpPr/>
          <p:nvPr/>
        </p:nvSpPr>
        <p:spPr>
          <a:xfrm>
            <a:off x="1993392" y="4032504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07</a:t>
            </a:r>
            <a:endParaRPr lang="en-US" sz="570" dirty="0"/>
          </a:p>
        </p:txBody>
      </p:sp>
      <p:sp>
        <p:nvSpPr>
          <p:cNvPr id="412" name="Shape 409"/>
          <p:cNvSpPr/>
          <p:nvPr/>
        </p:nvSpPr>
        <p:spPr>
          <a:xfrm>
            <a:off x="3246120" y="3867912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60A5FA">
              <a:alpha val="88000"/>
            </a:srgbClr>
          </a:solidFill>
          <a:ln w="12700">
            <a:solidFill>
              <a:srgbClr val="60A5FA">
                <a:alpha val="70000"/>
              </a:srgbClr>
            </a:solidFill>
            <a:prstDash val="solid"/>
          </a:ln>
        </p:spPr>
      </p:sp>
      <p:sp>
        <p:nvSpPr>
          <p:cNvPr id="413" name="Text 410"/>
          <p:cNvSpPr/>
          <p:nvPr/>
        </p:nvSpPr>
        <p:spPr>
          <a:xfrm>
            <a:off x="3410712" y="4032504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08</a:t>
            </a:r>
            <a:endParaRPr lang="en-US" sz="570" dirty="0"/>
          </a:p>
        </p:txBody>
      </p:sp>
      <p:sp>
        <p:nvSpPr>
          <p:cNvPr id="414" name="Shape 411"/>
          <p:cNvSpPr/>
          <p:nvPr/>
        </p:nvSpPr>
        <p:spPr>
          <a:xfrm>
            <a:off x="4663440" y="3867912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FACC15">
              <a:alpha val="88000"/>
            </a:srgbClr>
          </a:solidFill>
          <a:ln w="12700">
            <a:solidFill>
              <a:srgbClr val="FACC15">
                <a:alpha val="70000"/>
              </a:srgbClr>
            </a:solidFill>
            <a:prstDash val="solid"/>
          </a:ln>
        </p:spPr>
      </p:sp>
      <p:sp>
        <p:nvSpPr>
          <p:cNvPr id="415" name="Text 412"/>
          <p:cNvSpPr/>
          <p:nvPr/>
        </p:nvSpPr>
        <p:spPr>
          <a:xfrm>
            <a:off x="4828032" y="4032504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050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09</a:t>
            </a:r>
            <a:endParaRPr lang="en-US" sz="570" dirty="0"/>
          </a:p>
        </p:txBody>
      </p:sp>
      <p:sp>
        <p:nvSpPr>
          <p:cNvPr id="416" name="Shape 413"/>
          <p:cNvSpPr/>
          <p:nvPr/>
        </p:nvSpPr>
        <p:spPr>
          <a:xfrm>
            <a:off x="6080760" y="3867912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EC4899">
              <a:alpha val="88000"/>
            </a:srgbClr>
          </a:solidFill>
          <a:ln w="12700">
            <a:solidFill>
              <a:srgbClr val="EC4899">
                <a:alpha val="70000"/>
              </a:srgbClr>
            </a:solidFill>
            <a:prstDash val="solid"/>
          </a:ln>
        </p:spPr>
      </p:sp>
      <p:sp>
        <p:nvSpPr>
          <p:cNvPr id="417" name="Text 414"/>
          <p:cNvSpPr/>
          <p:nvPr/>
        </p:nvSpPr>
        <p:spPr>
          <a:xfrm>
            <a:off x="6245352" y="4032504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10</a:t>
            </a:r>
            <a:endParaRPr lang="en-US" sz="570" dirty="0"/>
          </a:p>
        </p:txBody>
      </p:sp>
      <p:sp>
        <p:nvSpPr>
          <p:cNvPr id="418" name="Shape 415"/>
          <p:cNvSpPr/>
          <p:nvPr/>
        </p:nvSpPr>
        <p:spPr>
          <a:xfrm>
            <a:off x="7498080" y="3867912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A855F7">
              <a:alpha val="88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</p:sp>
      <p:sp>
        <p:nvSpPr>
          <p:cNvPr id="419" name="Text 416"/>
          <p:cNvSpPr/>
          <p:nvPr/>
        </p:nvSpPr>
        <p:spPr>
          <a:xfrm>
            <a:off x="7662672" y="4032504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11</a:t>
            </a:r>
            <a:endParaRPr lang="en-US" sz="570" dirty="0"/>
          </a:p>
        </p:txBody>
      </p:sp>
      <p:sp>
        <p:nvSpPr>
          <p:cNvPr id="420" name="Shape 417"/>
          <p:cNvSpPr/>
          <p:nvPr/>
        </p:nvSpPr>
        <p:spPr>
          <a:xfrm>
            <a:off x="8915400" y="3867912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99F6E4">
              <a:alpha val="88000"/>
            </a:srgbClr>
          </a:solidFill>
          <a:ln w="12700">
            <a:solidFill>
              <a:srgbClr val="99F6E4">
                <a:alpha val="70000"/>
              </a:srgbClr>
            </a:solidFill>
            <a:prstDash val="solid"/>
          </a:ln>
        </p:spPr>
      </p:sp>
      <p:sp>
        <p:nvSpPr>
          <p:cNvPr id="421" name="Text 418"/>
          <p:cNvSpPr/>
          <p:nvPr/>
        </p:nvSpPr>
        <p:spPr>
          <a:xfrm>
            <a:off x="9079992" y="4032504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050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12</a:t>
            </a:r>
            <a:endParaRPr lang="en-US" sz="570" dirty="0"/>
          </a:p>
        </p:txBody>
      </p:sp>
      <p:sp>
        <p:nvSpPr>
          <p:cNvPr id="422" name="Shape 419"/>
          <p:cNvSpPr/>
          <p:nvPr/>
        </p:nvSpPr>
        <p:spPr>
          <a:xfrm>
            <a:off x="1828800" y="4398264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2DD4BF">
              <a:alpha val="88000"/>
            </a:srgbClr>
          </a:solidFill>
          <a:ln w="12700">
            <a:solidFill>
              <a:srgbClr val="2DD4BF">
                <a:alpha val="70000"/>
              </a:srgbClr>
            </a:solidFill>
            <a:prstDash val="solid"/>
          </a:ln>
        </p:spPr>
      </p:sp>
      <p:sp>
        <p:nvSpPr>
          <p:cNvPr id="423" name="Text 420"/>
          <p:cNvSpPr/>
          <p:nvPr/>
        </p:nvSpPr>
        <p:spPr>
          <a:xfrm>
            <a:off x="1993392" y="4562856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13</a:t>
            </a:r>
            <a:endParaRPr lang="en-US" sz="570" dirty="0"/>
          </a:p>
        </p:txBody>
      </p:sp>
      <p:sp>
        <p:nvSpPr>
          <p:cNvPr id="424" name="Shape 421"/>
          <p:cNvSpPr/>
          <p:nvPr/>
        </p:nvSpPr>
        <p:spPr>
          <a:xfrm>
            <a:off x="3246120" y="4398264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60A5FA">
              <a:alpha val="88000"/>
            </a:srgbClr>
          </a:solidFill>
          <a:ln w="12700">
            <a:solidFill>
              <a:srgbClr val="60A5FA">
                <a:alpha val="70000"/>
              </a:srgbClr>
            </a:solidFill>
            <a:prstDash val="solid"/>
          </a:ln>
        </p:spPr>
      </p:sp>
      <p:sp>
        <p:nvSpPr>
          <p:cNvPr id="425" name="Text 422"/>
          <p:cNvSpPr/>
          <p:nvPr/>
        </p:nvSpPr>
        <p:spPr>
          <a:xfrm>
            <a:off x="3410712" y="4562856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14</a:t>
            </a:r>
            <a:endParaRPr lang="en-US" sz="570" dirty="0"/>
          </a:p>
        </p:txBody>
      </p:sp>
      <p:sp>
        <p:nvSpPr>
          <p:cNvPr id="426" name="Shape 423"/>
          <p:cNvSpPr/>
          <p:nvPr/>
        </p:nvSpPr>
        <p:spPr>
          <a:xfrm>
            <a:off x="4663440" y="4398264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FACC15">
              <a:alpha val="88000"/>
            </a:srgbClr>
          </a:solidFill>
          <a:ln w="12700">
            <a:solidFill>
              <a:srgbClr val="FACC15">
                <a:alpha val="70000"/>
              </a:srgbClr>
            </a:solidFill>
            <a:prstDash val="solid"/>
          </a:ln>
        </p:spPr>
      </p:sp>
      <p:sp>
        <p:nvSpPr>
          <p:cNvPr id="427" name="Text 424"/>
          <p:cNvSpPr/>
          <p:nvPr/>
        </p:nvSpPr>
        <p:spPr>
          <a:xfrm>
            <a:off x="4828032" y="4562856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050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15</a:t>
            </a:r>
            <a:endParaRPr lang="en-US" sz="570" dirty="0"/>
          </a:p>
        </p:txBody>
      </p:sp>
      <p:sp>
        <p:nvSpPr>
          <p:cNvPr id="428" name="Shape 425"/>
          <p:cNvSpPr/>
          <p:nvPr/>
        </p:nvSpPr>
        <p:spPr>
          <a:xfrm>
            <a:off x="6080760" y="4398264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EC4899">
              <a:alpha val="88000"/>
            </a:srgbClr>
          </a:solidFill>
          <a:ln w="12700">
            <a:solidFill>
              <a:srgbClr val="EC4899">
                <a:alpha val="70000"/>
              </a:srgbClr>
            </a:solidFill>
            <a:prstDash val="solid"/>
          </a:ln>
        </p:spPr>
      </p:sp>
      <p:sp>
        <p:nvSpPr>
          <p:cNvPr id="429" name="Text 426"/>
          <p:cNvSpPr/>
          <p:nvPr/>
        </p:nvSpPr>
        <p:spPr>
          <a:xfrm>
            <a:off x="6245352" y="4562856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16</a:t>
            </a:r>
            <a:endParaRPr lang="en-US" sz="570" dirty="0"/>
          </a:p>
        </p:txBody>
      </p:sp>
      <p:sp>
        <p:nvSpPr>
          <p:cNvPr id="430" name="Shape 427"/>
          <p:cNvSpPr/>
          <p:nvPr/>
        </p:nvSpPr>
        <p:spPr>
          <a:xfrm>
            <a:off x="7498080" y="4398264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A855F7">
              <a:alpha val="88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</p:sp>
      <p:sp>
        <p:nvSpPr>
          <p:cNvPr id="431" name="Text 428"/>
          <p:cNvSpPr/>
          <p:nvPr/>
        </p:nvSpPr>
        <p:spPr>
          <a:xfrm>
            <a:off x="7662672" y="4562856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17</a:t>
            </a:r>
            <a:endParaRPr lang="en-US" sz="570" dirty="0"/>
          </a:p>
        </p:txBody>
      </p:sp>
      <p:sp>
        <p:nvSpPr>
          <p:cNvPr id="432" name="Shape 429"/>
          <p:cNvSpPr/>
          <p:nvPr/>
        </p:nvSpPr>
        <p:spPr>
          <a:xfrm>
            <a:off x="8915400" y="4398264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99F6E4">
              <a:alpha val="88000"/>
            </a:srgbClr>
          </a:solidFill>
          <a:ln w="12700">
            <a:solidFill>
              <a:srgbClr val="99F6E4">
                <a:alpha val="70000"/>
              </a:srgbClr>
            </a:solidFill>
            <a:prstDash val="solid"/>
          </a:ln>
        </p:spPr>
      </p:sp>
      <p:sp>
        <p:nvSpPr>
          <p:cNvPr id="433" name="Text 430"/>
          <p:cNvSpPr/>
          <p:nvPr/>
        </p:nvSpPr>
        <p:spPr>
          <a:xfrm>
            <a:off x="9079992" y="4562856"/>
            <a:ext cx="603504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0508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18</a:t>
            </a:r>
            <a:endParaRPr lang="en-US" sz="570" dirty="0"/>
          </a:p>
        </p:txBody>
      </p:sp>
      <p:sp>
        <p:nvSpPr>
          <p:cNvPr id="434" name="Shape 431"/>
          <p:cNvSpPr/>
          <p:nvPr/>
        </p:nvSpPr>
        <p:spPr>
          <a:xfrm rot="60000">
            <a:off x="8138160" y="2697480"/>
            <a:ext cx="2331720" cy="420624"/>
          </a:xfrm>
          <a:prstGeom prst="roundRect">
            <a:avLst>
              <a:gd name="adj" fmla="val 10870"/>
            </a:avLst>
          </a:prstGeom>
          <a:solidFill>
            <a:srgbClr val="EC4899">
              <a:alpha val="16000"/>
            </a:srgbClr>
          </a:solidFill>
          <a:ln w="12700">
            <a:solidFill>
              <a:srgbClr val="EC4899">
                <a:alpha val="88000"/>
              </a:srgbClr>
            </a:solidFill>
            <a:prstDash val="solid"/>
          </a:ln>
        </p:spPr>
      </p:sp>
      <p:sp>
        <p:nvSpPr>
          <p:cNvPr id="435" name="Text 432"/>
          <p:cNvSpPr/>
          <p:nvPr/>
        </p:nvSpPr>
        <p:spPr>
          <a:xfrm rot="60000">
            <a:off x="8229600" y="2834640"/>
            <a:ext cx="214884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FRONTIER BUILDERS *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822960"/>
            <a:ext cx="88696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leverage was not the org chart.</a:t>
            </a:r>
            <a:endParaRPr lang="en-US" sz="2800" dirty="0"/>
          </a:p>
        </p:txBody>
      </p:sp>
      <p:sp>
        <p:nvSpPr>
          <p:cNvPr id="396" name="Shape 393"/>
          <p:cNvSpPr/>
          <p:nvPr/>
        </p:nvSpPr>
        <p:spPr>
          <a:xfrm>
            <a:off x="1536192" y="1554480"/>
            <a:ext cx="16916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1627632" y="1828800"/>
            <a:ext cx="3383280" cy="2926080"/>
          </a:xfrm>
          <a:prstGeom prst="roundRect">
            <a:avLst>
              <a:gd name="adj" fmla="val 1875"/>
            </a:avLst>
          </a:prstGeom>
          <a:solidFill>
            <a:srgbClr val="12183A"/>
          </a:solidFill>
          <a:ln w="12700">
            <a:solidFill>
              <a:srgbClr val="6F7895">
                <a:alpha val="2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398" name="Shape 395"/>
          <p:cNvSpPr/>
          <p:nvPr/>
        </p:nvSpPr>
        <p:spPr>
          <a:xfrm>
            <a:off x="1627632" y="1828800"/>
            <a:ext cx="338328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399" name="Text 396"/>
          <p:cNvSpPr/>
          <p:nvPr/>
        </p:nvSpPr>
        <p:spPr>
          <a:xfrm>
            <a:off x="1792224" y="1947672"/>
            <a:ext cx="274320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what-i-expected.org</a:t>
            </a:r>
            <a:endParaRPr lang="en-US" sz="680" dirty="0"/>
          </a:p>
        </p:txBody>
      </p:sp>
      <p:sp>
        <p:nvSpPr>
          <p:cNvPr id="400" name="Shape 397"/>
          <p:cNvSpPr/>
          <p:nvPr/>
        </p:nvSpPr>
        <p:spPr>
          <a:xfrm>
            <a:off x="4608576" y="1965960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01" name="Shape 398"/>
          <p:cNvSpPr/>
          <p:nvPr/>
        </p:nvSpPr>
        <p:spPr>
          <a:xfrm>
            <a:off x="4727448" y="1965960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02" name="Shape 399"/>
          <p:cNvSpPr/>
          <p:nvPr/>
        </p:nvSpPr>
        <p:spPr>
          <a:xfrm>
            <a:off x="4846320" y="1965960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sp>
        <p:nvSpPr>
          <p:cNvPr id="403" name="Text 400"/>
          <p:cNvSpPr/>
          <p:nvPr/>
        </p:nvSpPr>
        <p:spPr>
          <a:xfrm>
            <a:off x="2084832" y="2788920"/>
            <a:ext cx="24688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B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AAB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AAB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checker</a:t>
            </a:r>
            <a:endParaRPr lang="en-US" sz="2200" dirty="0"/>
          </a:p>
        </p:txBody>
      </p:sp>
      <p:sp>
        <p:nvSpPr>
          <p:cNvPr id="404" name="Shape 401"/>
          <p:cNvSpPr/>
          <p:nvPr/>
        </p:nvSpPr>
        <p:spPr>
          <a:xfrm>
            <a:off x="5989320" y="1664208"/>
            <a:ext cx="4434840" cy="3291840"/>
          </a:xfrm>
          <a:prstGeom prst="roundRect">
            <a:avLst>
              <a:gd name="adj" fmla="val 1667"/>
            </a:avLst>
          </a:prstGeom>
          <a:solidFill>
            <a:srgbClr val="12183A"/>
          </a:solidFill>
          <a:ln w="12700">
            <a:solidFill>
              <a:srgbClr val="2DD4BF">
                <a:alpha val="2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405" name="Shape 402"/>
          <p:cNvSpPr/>
          <p:nvPr/>
        </p:nvSpPr>
        <p:spPr>
          <a:xfrm>
            <a:off x="5989320" y="1664208"/>
            <a:ext cx="443484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06" name="Text 403"/>
          <p:cNvSpPr/>
          <p:nvPr/>
        </p:nvSpPr>
        <p:spPr>
          <a:xfrm>
            <a:off x="6153912" y="1783080"/>
            <a:ext cx="379476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what-mattered.ledger</a:t>
            </a:r>
            <a:endParaRPr lang="en-US" sz="680" dirty="0"/>
          </a:p>
        </p:txBody>
      </p:sp>
      <p:sp>
        <p:nvSpPr>
          <p:cNvPr id="407" name="Shape 404"/>
          <p:cNvSpPr/>
          <p:nvPr/>
        </p:nvSpPr>
        <p:spPr>
          <a:xfrm>
            <a:off x="10021824" y="1801368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08" name="Shape 405"/>
          <p:cNvSpPr/>
          <p:nvPr/>
        </p:nvSpPr>
        <p:spPr>
          <a:xfrm>
            <a:off x="10140696" y="1801368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09" name="Shape 406"/>
          <p:cNvSpPr/>
          <p:nvPr/>
        </p:nvSpPr>
        <p:spPr>
          <a:xfrm>
            <a:off x="10259568" y="1801368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sp>
        <p:nvSpPr>
          <p:cNvPr id="410" name="Text 407"/>
          <p:cNvSpPr/>
          <p:nvPr/>
        </p:nvSpPr>
        <p:spPr>
          <a:xfrm>
            <a:off x="6400800" y="2487168"/>
            <a:ext cx="3611880" cy="9509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beads on a shared ledger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you can roll back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outside any one agent's head</a:t>
            </a:r>
            <a:endParaRPr lang="en-US" sz="1800" dirty="0"/>
          </a:p>
        </p:txBody>
      </p:sp>
      <p:sp>
        <p:nvSpPr>
          <p:cNvPr id="411" name="Shape 408"/>
          <p:cNvSpPr/>
          <p:nvPr/>
        </p:nvSpPr>
        <p:spPr>
          <a:xfrm>
            <a:off x="6400800" y="4096512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ACC15">
              <a:alpha val="92000"/>
            </a:srgbClr>
          </a:solidFill>
          <a:ln w="12700">
            <a:solidFill>
              <a:srgbClr val="FACC15">
                <a:alpha val="70000"/>
              </a:srgbClr>
            </a:solidFill>
            <a:prstDash val="solid"/>
          </a:ln>
        </p:spPr>
      </p:sp>
      <p:sp>
        <p:nvSpPr>
          <p:cNvPr id="412" name="Text 409"/>
          <p:cNvSpPr/>
          <p:nvPr/>
        </p:nvSpPr>
        <p:spPr>
          <a:xfrm>
            <a:off x="6565392" y="4261104"/>
            <a:ext cx="1316736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links -&gt; calendar</a:t>
            </a:r>
            <a:endParaRPr lang="en-US" sz="800" dirty="0"/>
          </a:p>
        </p:txBody>
      </p:sp>
      <p:sp>
        <p:nvSpPr>
          <p:cNvPr id="413" name="Shape 410"/>
          <p:cNvSpPr/>
          <p:nvPr/>
        </p:nvSpPr>
        <p:spPr>
          <a:xfrm>
            <a:off x="8275320" y="4096512"/>
            <a:ext cx="1810512" cy="384048"/>
          </a:xfrm>
          <a:prstGeom prst="roundRect">
            <a:avLst>
              <a:gd name="adj" fmla="val 14286"/>
            </a:avLst>
          </a:prstGeom>
          <a:solidFill>
            <a:srgbClr val="60A5FA">
              <a:alpha val="88000"/>
            </a:srgbClr>
          </a:solidFill>
          <a:ln w="12700">
            <a:solidFill>
              <a:srgbClr val="60A5FA">
                <a:alpha val="70000"/>
              </a:srgbClr>
            </a:solidFill>
            <a:prstDash val="solid"/>
          </a:ln>
        </p:spPr>
      </p:sp>
      <p:sp>
        <p:nvSpPr>
          <p:cNvPr id="414" name="Text 411"/>
          <p:cNvSpPr/>
          <p:nvPr/>
        </p:nvSpPr>
        <p:spPr>
          <a:xfrm>
            <a:off x="8439912" y="4261104"/>
            <a:ext cx="148132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week -&gt; LinkedIn draft</a:t>
            </a:r>
            <a:endParaRPr lang="en-US" sz="800" dirty="0"/>
          </a:p>
        </p:txBody>
      </p:sp>
      <p:sp>
        <p:nvSpPr>
          <p:cNvPr id="415" name="Shape 412"/>
          <p:cNvSpPr/>
          <p:nvPr/>
        </p:nvSpPr>
        <p:spPr>
          <a:xfrm>
            <a:off x="5010912" y="3273552"/>
            <a:ext cx="978408" cy="0"/>
          </a:xfrm>
          <a:prstGeom prst="line">
            <a:avLst/>
          </a:prstGeom>
          <a:noFill/>
          <a:ln w="20320">
            <a:solidFill>
              <a:srgbClr val="EC489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822960"/>
            <a:ext cx="88696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Mirror: methodology as architecture</a:t>
            </a:r>
            <a:endParaRPr lang="en-US" sz="2800" dirty="0"/>
          </a:p>
        </p:txBody>
      </p:sp>
      <p:sp>
        <p:nvSpPr>
          <p:cNvPr id="396" name="Shape 393"/>
          <p:cNvSpPr/>
          <p:nvPr/>
        </p:nvSpPr>
        <p:spPr>
          <a:xfrm>
            <a:off x="1536192" y="1554480"/>
            <a:ext cx="16916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1591056" y="2103120"/>
            <a:ext cx="1737360" cy="1874520"/>
          </a:xfrm>
          <a:prstGeom prst="roundRect">
            <a:avLst>
              <a:gd name="adj" fmla="val 2632"/>
            </a:avLst>
          </a:prstGeom>
          <a:solidFill>
            <a:srgbClr val="12183A"/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398" name="Text 395"/>
          <p:cNvSpPr/>
          <p:nvPr/>
        </p:nvSpPr>
        <p:spPr>
          <a:xfrm>
            <a:off x="1719072" y="2221992"/>
            <a:ext cx="148132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EVIDENCE</a:t>
            </a:r>
            <a:endParaRPr lang="en-US" sz="600" dirty="0"/>
          </a:p>
        </p:txBody>
      </p:sp>
      <p:sp>
        <p:nvSpPr>
          <p:cNvPr id="399" name="Text 396"/>
          <p:cNvSpPr/>
          <p:nvPr/>
        </p:nvSpPr>
        <p:spPr>
          <a:xfrm>
            <a:off x="1737360" y="2450592"/>
            <a:ext cx="1444752" cy="1435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40" dirty="0"/>
          </a:p>
        </p:txBody>
      </p:sp>
      <p:sp>
        <p:nvSpPr>
          <p:cNvPr id="400" name="Shape 397"/>
          <p:cNvSpPr/>
          <p:nvPr/>
        </p:nvSpPr>
        <p:spPr>
          <a:xfrm>
            <a:off x="3328416" y="3035808"/>
            <a:ext cx="493776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01" name="Shape 398"/>
          <p:cNvSpPr/>
          <p:nvPr/>
        </p:nvSpPr>
        <p:spPr>
          <a:xfrm>
            <a:off x="3822192" y="2103120"/>
            <a:ext cx="2057400" cy="1874520"/>
          </a:xfrm>
          <a:prstGeom prst="roundRect">
            <a:avLst>
              <a:gd name="adj" fmla="val 2439"/>
            </a:avLst>
          </a:prstGeom>
          <a:solidFill>
            <a:srgbClr val="12183A"/>
          </a:solidFill>
          <a:ln w="12700">
            <a:solidFill>
              <a:srgbClr val="2DD4BF">
                <a:alpha val="80000"/>
              </a:srgbClr>
            </a:solidFill>
            <a:prstDash val="solid"/>
          </a:ln>
        </p:spPr>
      </p:sp>
      <p:sp>
        <p:nvSpPr>
          <p:cNvPr id="402" name="Text 399"/>
          <p:cNvSpPr/>
          <p:nvPr/>
        </p:nvSpPr>
        <p:spPr>
          <a:xfrm>
            <a:off x="3950208" y="2221992"/>
            <a:ext cx="1801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CONSTITUTION</a:t>
            </a:r>
            <a:endParaRPr lang="en-US" sz="600" dirty="0"/>
          </a:p>
        </p:txBody>
      </p:sp>
      <p:sp>
        <p:nvSpPr>
          <p:cNvPr id="403" name="Text 400"/>
          <p:cNvSpPr/>
          <p:nvPr/>
        </p:nvSpPr>
        <p:spPr>
          <a:xfrm>
            <a:off x="3968496" y="2450592"/>
            <a:ext cx="1764792" cy="1435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modifiers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synthesiser</a:t>
            </a:r>
            <a:endParaRPr lang="en-US" sz="940" dirty="0"/>
          </a:p>
        </p:txBody>
      </p:sp>
      <p:sp>
        <p:nvSpPr>
          <p:cNvPr id="404" name="Shape 401"/>
          <p:cNvSpPr/>
          <p:nvPr/>
        </p:nvSpPr>
        <p:spPr>
          <a:xfrm>
            <a:off x="5879592" y="3035808"/>
            <a:ext cx="475488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05" name="Shape 402"/>
          <p:cNvSpPr/>
          <p:nvPr/>
        </p:nvSpPr>
        <p:spPr>
          <a:xfrm>
            <a:off x="6355080" y="2103120"/>
            <a:ext cx="1737360" cy="1874520"/>
          </a:xfrm>
          <a:prstGeom prst="roundRect">
            <a:avLst>
              <a:gd name="adj" fmla="val 2632"/>
            </a:avLst>
          </a:prstGeom>
          <a:solidFill>
            <a:srgbClr val="12183A"/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406" name="Text 403"/>
          <p:cNvSpPr/>
          <p:nvPr/>
        </p:nvSpPr>
        <p:spPr>
          <a:xfrm>
            <a:off x="6483096" y="2221992"/>
            <a:ext cx="148132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JURY + RANKING</a:t>
            </a:r>
            <a:endParaRPr lang="en-US" sz="600" dirty="0"/>
          </a:p>
        </p:txBody>
      </p:sp>
      <p:sp>
        <p:nvSpPr>
          <p:cNvPr id="407" name="Text 404"/>
          <p:cNvSpPr/>
          <p:nvPr/>
        </p:nvSpPr>
        <p:spPr>
          <a:xfrm>
            <a:off x="6501384" y="2450592"/>
            <a:ext cx="1444752" cy="1435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models x 5 runs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ranking batches</a:t>
            </a:r>
            <a:endParaRPr lang="en-US" sz="940" dirty="0"/>
          </a:p>
        </p:txBody>
      </p:sp>
      <p:sp>
        <p:nvSpPr>
          <p:cNvPr id="408" name="Shape 405"/>
          <p:cNvSpPr/>
          <p:nvPr/>
        </p:nvSpPr>
        <p:spPr>
          <a:xfrm>
            <a:off x="8092440" y="3035808"/>
            <a:ext cx="813816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09" name="Shape 406"/>
          <p:cNvSpPr/>
          <p:nvPr/>
        </p:nvSpPr>
        <p:spPr>
          <a:xfrm>
            <a:off x="8906256" y="2103120"/>
            <a:ext cx="1737360" cy="1874520"/>
          </a:xfrm>
          <a:prstGeom prst="roundRect">
            <a:avLst>
              <a:gd name="adj" fmla="val 2632"/>
            </a:avLst>
          </a:prstGeom>
          <a:solidFill>
            <a:srgbClr val="12183A"/>
          </a:solidFill>
          <a:ln w="12700">
            <a:solidFill>
              <a:srgbClr val="FACC15">
                <a:alpha val="80000"/>
              </a:srgbClr>
            </a:solidFill>
            <a:prstDash val="solid"/>
          </a:ln>
        </p:spPr>
      </p:sp>
      <p:sp>
        <p:nvSpPr>
          <p:cNvPr id="410" name="Text 407"/>
          <p:cNvSpPr/>
          <p:nvPr/>
        </p:nvSpPr>
        <p:spPr>
          <a:xfrm>
            <a:off x="9034272" y="2221992"/>
            <a:ext cx="148132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SYNTHESIS</a:t>
            </a:r>
            <a:endParaRPr lang="en-US" sz="600" dirty="0"/>
          </a:p>
        </p:txBody>
      </p:sp>
      <p:sp>
        <p:nvSpPr>
          <p:cNvPr id="411" name="Text 408"/>
          <p:cNvSpPr/>
          <p:nvPr/>
        </p:nvSpPr>
        <p:spPr>
          <a:xfrm>
            <a:off x="9052560" y="2450592"/>
            <a:ext cx="1444752" cy="1435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notetaker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record</a:t>
            </a:r>
            <a:endParaRPr lang="en-US" sz="940" dirty="0"/>
          </a:p>
        </p:txBody>
      </p:sp>
      <p:sp>
        <p:nvSpPr>
          <p:cNvPr id="412" name="Shape 409"/>
          <p:cNvSpPr/>
          <p:nvPr/>
        </p:nvSpPr>
        <p:spPr>
          <a:xfrm>
            <a:off x="1828800" y="4526280"/>
            <a:ext cx="3108960" cy="1371600"/>
          </a:xfrm>
          <a:prstGeom prst="roundRect">
            <a:avLst>
              <a:gd name="adj" fmla="val 4000"/>
            </a:avLst>
          </a:prstGeom>
          <a:solidFill>
            <a:srgbClr val="12183A"/>
          </a:solidFill>
          <a:ln w="12700">
            <a:solidFill>
              <a:srgbClr val="2DD4BF">
                <a:alpha val="5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413" name="Shape 410"/>
          <p:cNvSpPr/>
          <p:nvPr/>
        </p:nvSpPr>
        <p:spPr>
          <a:xfrm>
            <a:off x="1828800" y="4526280"/>
            <a:ext cx="310896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14" name="Text 411"/>
          <p:cNvSpPr/>
          <p:nvPr/>
        </p:nvSpPr>
        <p:spPr>
          <a:xfrm>
            <a:off x="1993392" y="4645152"/>
            <a:ext cx="246888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with constitution screenshot</a:t>
            </a:r>
            <a:endParaRPr lang="en-US" sz="680" dirty="0"/>
          </a:p>
        </p:txBody>
      </p:sp>
      <p:sp>
        <p:nvSpPr>
          <p:cNvPr id="415" name="Shape 412"/>
          <p:cNvSpPr/>
          <p:nvPr/>
        </p:nvSpPr>
        <p:spPr>
          <a:xfrm>
            <a:off x="4535424" y="4663440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16" name="Shape 413"/>
          <p:cNvSpPr/>
          <p:nvPr/>
        </p:nvSpPr>
        <p:spPr>
          <a:xfrm>
            <a:off x="4654296" y="4663440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17" name="Shape 414"/>
          <p:cNvSpPr/>
          <p:nvPr/>
        </p:nvSpPr>
        <p:spPr>
          <a:xfrm>
            <a:off x="4773168" y="4663440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pic>
        <p:nvPicPr>
          <p:cNvPr id="418" name="Image 0" descr="/Users/fatimasarahkhalid/Sites/_keynotes/agent-craft-2026/deck/assets/placeholders/project-mirror-constit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2" y="5020056"/>
            <a:ext cx="950976" cy="713232"/>
          </a:xfrm>
          <a:prstGeom prst="rect">
            <a:avLst/>
          </a:prstGeom>
        </p:spPr>
      </p:pic>
      <p:sp>
        <p:nvSpPr>
          <p:cNvPr id="419" name="Shape 415"/>
          <p:cNvSpPr/>
          <p:nvPr/>
        </p:nvSpPr>
        <p:spPr>
          <a:xfrm>
            <a:off x="2084832" y="5495544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2DD4BF">
              <a:alpha val="14000"/>
            </a:srgbClr>
          </a:solidFill>
          <a:ln w="12700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420" name="Text 416"/>
          <p:cNvSpPr/>
          <p:nvPr/>
        </p:nvSpPr>
        <p:spPr>
          <a:xfrm>
            <a:off x="2157984" y="5600700"/>
            <a:ext cx="1088136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IMAGE</a:t>
            </a:r>
            <a:endParaRPr lang="en-US" sz="550" dirty="0"/>
          </a:p>
        </p:txBody>
      </p:sp>
      <p:sp>
        <p:nvSpPr>
          <p:cNvPr id="421" name="Shape 417"/>
          <p:cNvSpPr/>
          <p:nvPr/>
        </p:nvSpPr>
        <p:spPr>
          <a:xfrm>
            <a:off x="5349240" y="4736592"/>
            <a:ext cx="4892040" cy="475488"/>
          </a:xfrm>
          <a:prstGeom prst="roundRect">
            <a:avLst>
              <a:gd name="adj" fmla="val 11538"/>
            </a:avLst>
          </a:prstGeom>
          <a:solidFill>
            <a:srgbClr val="A855F7">
              <a:alpha val="86000"/>
            </a:srgbClr>
          </a:solidFill>
          <a:ln w="12700">
            <a:solidFill>
              <a:srgbClr val="A855F7">
                <a:alpha val="75000"/>
              </a:srgbClr>
            </a:solidFill>
            <a:prstDash val="solid"/>
          </a:ln>
        </p:spPr>
      </p:sp>
      <p:sp>
        <p:nvSpPr>
          <p:cNvPr id="422" name="Text 418"/>
          <p:cNvSpPr/>
          <p:nvPr/>
        </p:nvSpPr>
        <p:spPr>
          <a:xfrm>
            <a:off x="5513832" y="4901184"/>
            <a:ext cx="456285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agents · 8 output stages · 25 jury runs · 4 ranking batches</a:t>
            </a:r>
            <a:endParaRPr lang="en-US" sz="950" dirty="0"/>
          </a:p>
        </p:txBody>
      </p:sp>
      <p:sp>
        <p:nvSpPr>
          <p:cNvPr id="423" name="Shape 419"/>
          <p:cNvSpPr/>
          <p:nvPr/>
        </p:nvSpPr>
        <p:spPr>
          <a:xfrm>
            <a:off x="5897880" y="5577840"/>
            <a:ext cx="3749040" cy="420624"/>
          </a:xfrm>
          <a:prstGeom prst="roundRect">
            <a:avLst>
              <a:gd name="adj" fmla="val 10870"/>
            </a:avLst>
          </a:prstGeom>
          <a:solidFill>
            <a:srgbClr val="2DD4BF">
              <a:alpha val="16000"/>
            </a:srgbClr>
          </a:solidFill>
          <a:ln w="12700">
            <a:solidFill>
              <a:srgbClr val="2DD4BF">
                <a:alpha val="88000"/>
              </a:srgbClr>
            </a:solidFill>
            <a:prstDash val="solid"/>
          </a:ln>
        </p:spPr>
      </p:sp>
      <p:sp>
        <p:nvSpPr>
          <p:cNvPr id="424" name="Text 420"/>
          <p:cNvSpPr/>
          <p:nvPr/>
        </p:nvSpPr>
        <p:spPr>
          <a:xfrm>
            <a:off x="5989320" y="5715000"/>
            <a:ext cx="356616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AUDITABLE / CONTESTABLE / OVERRIDABLE *</a:t>
            </a:r>
            <a:endParaRPr lang="en-US" sz="600" dirty="0"/>
          </a:p>
        </p:txBody>
      </p:sp>
      <p:sp>
        <p:nvSpPr>
          <p:cNvPr id="425" name="Text 421"/>
          <p:cNvSpPr/>
          <p:nvPr/>
        </p:nvSpPr>
        <p:spPr>
          <a:xfrm>
            <a:off x="1499616" y="6556248"/>
            <a:ext cx="548640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Project Mirror v2 methodology.md.</a:t>
            </a:r>
            <a:endParaRPr lang="en-US" sz="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822960"/>
            <a:ext cx="88696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handoff is an assumption.</a:t>
            </a:r>
            <a:endParaRPr lang="en-US" sz="2800" dirty="0"/>
          </a:p>
        </p:txBody>
      </p:sp>
      <p:sp>
        <p:nvSpPr>
          <p:cNvPr id="396" name="Shape 393"/>
          <p:cNvSpPr/>
          <p:nvPr/>
        </p:nvSpPr>
        <p:spPr>
          <a:xfrm>
            <a:off x="1536192" y="1554480"/>
            <a:ext cx="16916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1600200" y="2651760"/>
            <a:ext cx="1353312" cy="438912"/>
          </a:xfrm>
          <a:prstGeom prst="roundRect">
            <a:avLst>
              <a:gd name="adj" fmla="val 12500"/>
            </a:avLst>
          </a:prstGeom>
          <a:solidFill>
            <a:srgbClr val="F9A8D4">
              <a:alpha val="96000"/>
            </a:srgbClr>
          </a:solidFill>
          <a:ln w="12700">
            <a:solidFill>
              <a:srgbClr val="F9A8D4">
                <a:alpha val="80000"/>
              </a:srgbClr>
            </a:solidFill>
            <a:prstDash val="solid"/>
          </a:ln>
        </p:spPr>
      </p:sp>
      <p:sp>
        <p:nvSpPr>
          <p:cNvPr id="398" name="Text 395"/>
          <p:cNvSpPr/>
          <p:nvPr/>
        </p:nvSpPr>
        <p:spPr>
          <a:xfrm>
            <a:off x="1764792" y="2816352"/>
            <a:ext cx="102412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gathered</a:t>
            </a:r>
            <a:endParaRPr lang="en-US" sz="860" dirty="0"/>
          </a:p>
        </p:txBody>
      </p:sp>
      <p:sp>
        <p:nvSpPr>
          <p:cNvPr id="399" name="Shape 396"/>
          <p:cNvSpPr/>
          <p:nvPr/>
        </p:nvSpPr>
        <p:spPr>
          <a:xfrm>
            <a:off x="2953512" y="2871216"/>
            <a:ext cx="548640" cy="347472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00" name="Shape 397"/>
          <p:cNvSpPr/>
          <p:nvPr/>
        </p:nvSpPr>
        <p:spPr>
          <a:xfrm>
            <a:off x="3502152" y="2999232"/>
            <a:ext cx="1353312" cy="438912"/>
          </a:xfrm>
          <a:prstGeom prst="roundRect">
            <a:avLst>
              <a:gd name="adj" fmla="val 12500"/>
            </a:avLst>
          </a:prstGeom>
          <a:solidFill>
            <a:srgbClr val="99F6E4">
              <a:alpha val="96000"/>
            </a:srgbClr>
          </a:solidFill>
          <a:ln w="12700">
            <a:solidFill>
              <a:srgbClr val="99F6E4">
                <a:alpha val="80000"/>
              </a:srgbClr>
            </a:solidFill>
            <a:prstDash val="solid"/>
          </a:ln>
        </p:spPr>
      </p:sp>
      <p:sp>
        <p:nvSpPr>
          <p:cNvPr id="401" name="Text 398"/>
          <p:cNvSpPr/>
          <p:nvPr/>
        </p:nvSpPr>
        <p:spPr>
          <a:xfrm>
            <a:off x="3666744" y="3163824"/>
            <a:ext cx="102412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inferred</a:t>
            </a:r>
            <a:endParaRPr lang="en-US" sz="860" dirty="0"/>
          </a:p>
        </p:txBody>
      </p:sp>
      <p:sp>
        <p:nvSpPr>
          <p:cNvPr id="402" name="Shape 399"/>
          <p:cNvSpPr/>
          <p:nvPr/>
        </p:nvSpPr>
        <p:spPr>
          <a:xfrm>
            <a:off x="4855464" y="3218688"/>
            <a:ext cx="548640" cy="-347472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03" name="Shape 400"/>
          <p:cNvSpPr/>
          <p:nvPr/>
        </p:nvSpPr>
        <p:spPr>
          <a:xfrm>
            <a:off x="5404104" y="2651760"/>
            <a:ext cx="1353312" cy="438912"/>
          </a:xfrm>
          <a:prstGeom prst="roundRect">
            <a:avLst>
              <a:gd name="adj" fmla="val 12500"/>
            </a:avLst>
          </a:prstGeom>
          <a:solidFill>
            <a:srgbClr val="FEF08A">
              <a:alpha val="96000"/>
            </a:srgbClr>
          </a:solidFill>
          <a:ln w="12700">
            <a:solidFill>
              <a:srgbClr val="FEF08A">
                <a:alpha val="80000"/>
              </a:srgbClr>
            </a:solidFill>
            <a:prstDash val="solid"/>
          </a:ln>
        </p:spPr>
      </p:sp>
      <p:sp>
        <p:nvSpPr>
          <p:cNvPr id="404" name="Text 401"/>
          <p:cNvSpPr/>
          <p:nvPr/>
        </p:nvSpPr>
        <p:spPr>
          <a:xfrm>
            <a:off x="5568696" y="2816352"/>
            <a:ext cx="102412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built</a:t>
            </a:r>
            <a:endParaRPr lang="en-US" sz="860" dirty="0"/>
          </a:p>
        </p:txBody>
      </p:sp>
      <p:sp>
        <p:nvSpPr>
          <p:cNvPr id="405" name="Shape 402"/>
          <p:cNvSpPr/>
          <p:nvPr/>
        </p:nvSpPr>
        <p:spPr>
          <a:xfrm>
            <a:off x="6757416" y="2871216"/>
            <a:ext cx="548640" cy="347472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06" name="Shape 403"/>
          <p:cNvSpPr/>
          <p:nvPr/>
        </p:nvSpPr>
        <p:spPr>
          <a:xfrm>
            <a:off x="7306056" y="2999232"/>
            <a:ext cx="1353312" cy="438912"/>
          </a:xfrm>
          <a:prstGeom prst="roundRect">
            <a:avLst>
              <a:gd name="adj" fmla="val 12500"/>
            </a:avLst>
          </a:prstGeom>
          <a:solidFill>
            <a:srgbClr val="60A5FA">
              <a:alpha val="96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407" name="Text 404"/>
          <p:cNvSpPr/>
          <p:nvPr/>
        </p:nvSpPr>
        <p:spPr>
          <a:xfrm>
            <a:off x="7470648" y="3163824"/>
            <a:ext cx="102412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produced</a:t>
            </a:r>
            <a:endParaRPr lang="en-US" sz="860" dirty="0"/>
          </a:p>
        </p:txBody>
      </p:sp>
      <p:sp>
        <p:nvSpPr>
          <p:cNvPr id="408" name="Shape 405"/>
          <p:cNvSpPr/>
          <p:nvPr/>
        </p:nvSpPr>
        <p:spPr>
          <a:xfrm>
            <a:off x="8659368" y="3218688"/>
            <a:ext cx="548640" cy="-347472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09" name="Shape 406"/>
          <p:cNvSpPr/>
          <p:nvPr/>
        </p:nvSpPr>
        <p:spPr>
          <a:xfrm>
            <a:off x="9208008" y="2651760"/>
            <a:ext cx="1353312" cy="438912"/>
          </a:xfrm>
          <a:prstGeom prst="roundRect">
            <a:avLst>
              <a:gd name="adj" fmla="val 12500"/>
            </a:avLst>
          </a:prstGeom>
          <a:solidFill>
            <a:srgbClr val="C084FC">
              <a:alpha val="96000"/>
            </a:srgbClr>
          </a:solidFill>
          <a:ln w="12700">
            <a:solidFill>
              <a:srgbClr val="C084FC">
                <a:alpha val="80000"/>
              </a:srgbClr>
            </a:solidFill>
            <a:prstDash val="solid"/>
          </a:ln>
        </p:spPr>
      </p:sp>
      <p:sp>
        <p:nvSpPr>
          <p:cNvPr id="410" name="Text 407"/>
          <p:cNvSpPr/>
          <p:nvPr/>
        </p:nvSpPr>
        <p:spPr>
          <a:xfrm>
            <a:off x="9372600" y="2816352"/>
            <a:ext cx="102412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monitored</a:t>
            </a:r>
            <a:endParaRPr lang="en-US" sz="860" dirty="0"/>
          </a:p>
        </p:txBody>
      </p:sp>
      <p:sp>
        <p:nvSpPr>
          <p:cNvPr id="411" name="Shape 408"/>
          <p:cNvSpPr/>
          <p:nvPr/>
        </p:nvSpPr>
        <p:spPr>
          <a:xfrm>
            <a:off x="2148840" y="4590288"/>
            <a:ext cx="3977640" cy="530352"/>
          </a:xfrm>
          <a:prstGeom prst="roundRect">
            <a:avLst>
              <a:gd name="adj" fmla="val 10345"/>
            </a:avLst>
          </a:prstGeom>
          <a:solidFill>
            <a:srgbClr val="FACC15">
              <a:alpha val="92000"/>
            </a:srgbClr>
          </a:solidFill>
          <a:ln w="12700">
            <a:solidFill>
              <a:srgbClr val="FACC15">
                <a:alpha val="75000"/>
              </a:srgbClr>
            </a:solidFill>
            <a:prstDash val="solid"/>
          </a:ln>
        </p:spPr>
      </p:sp>
      <p:sp>
        <p:nvSpPr>
          <p:cNvPr id="412" name="Text 409"/>
          <p:cNvSpPr/>
          <p:nvPr/>
        </p:nvSpPr>
        <p:spPr>
          <a:xfrm>
            <a:off x="2313432" y="4754880"/>
            <a:ext cx="364845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enough together and the assumptions compound.</a:t>
            </a:r>
            <a:endParaRPr lang="en-US" sz="1250" dirty="0"/>
          </a:p>
        </p:txBody>
      </p:sp>
      <p:sp>
        <p:nvSpPr>
          <p:cNvPr id="413" name="Shape 410"/>
          <p:cNvSpPr/>
          <p:nvPr/>
        </p:nvSpPr>
        <p:spPr>
          <a:xfrm>
            <a:off x="6446520" y="4590288"/>
            <a:ext cx="3977640" cy="530352"/>
          </a:xfrm>
          <a:prstGeom prst="roundRect">
            <a:avLst>
              <a:gd name="adj" fmla="val 10345"/>
            </a:avLst>
          </a:prstGeom>
          <a:solidFill>
            <a:srgbClr val="FB7185">
              <a:alpha val="92000"/>
            </a:srgbClr>
          </a:solidFill>
          <a:ln w="12700">
            <a:solidFill>
              <a:srgbClr val="FB7185">
                <a:alpha val="75000"/>
              </a:srgbClr>
            </a:solidFill>
            <a:prstDash val="solid"/>
          </a:ln>
        </p:spPr>
      </p:sp>
      <p:sp>
        <p:nvSpPr>
          <p:cNvPr id="414" name="Text 411"/>
          <p:cNvSpPr/>
          <p:nvPr/>
        </p:nvSpPr>
        <p:spPr>
          <a:xfrm>
            <a:off x="6611112" y="4754880"/>
            <a:ext cx="364845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fleet scale, the load-bearing assumptions disappear from view.</a:t>
            </a:r>
            <a:endParaRPr lang="en-US" sz="1250" dirty="0"/>
          </a:p>
        </p:txBody>
      </p:sp>
      <p:sp>
        <p:nvSpPr>
          <p:cNvPr id="415" name="Text 412"/>
          <p:cNvSpPr/>
          <p:nvPr/>
        </p:nvSpPr>
        <p:spPr>
          <a:xfrm>
            <a:off x="1828800" y="5797296"/>
            <a:ext cx="86868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still see inside it?  Can I verify what moves between loops?  Should this exist at all?</a:t>
            </a:r>
            <a:endParaRPr lang="en-US" sz="10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36192" y="822960"/>
            <a:ext cx="88696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Bubbles did not survive the system.</a:t>
            </a:r>
            <a:endParaRPr lang="en-US" sz="2800" dirty="0"/>
          </a:p>
        </p:txBody>
      </p:sp>
      <p:sp>
        <p:nvSpPr>
          <p:cNvPr id="396" name="Shape 393"/>
          <p:cNvSpPr/>
          <p:nvPr/>
        </p:nvSpPr>
        <p:spPr>
          <a:xfrm>
            <a:off x="1536192" y="1554480"/>
            <a:ext cx="16916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1609344" y="1874520"/>
            <a:ext cx="4023360" cy="3291840"/>
          </a:xfrm>
          <a:prstGeom prst="roundRect">
            <a:avLst>
              <a:gd name="adj" fmla="val 1667"/>
            </a:avLst>
          </a:prstGeom>
          <a:solidFill>
            <a:srgbClr val="12183A"/>
          </a:solidFill>
          <a:ln w="12700">
            <a:solidFill>
              <a:srgbClr val="EC4899">
                <a:alpha val="5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398" name="Shape 395"/>
          <p:cNvSpPr/>
          <p:nvPr/>
        </p:nvSpPr>
        <p:spPr>
          <a:xfrm>
            <a:off x="1609344" y="1874520"/>
            <a:ext cx="402336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399" name="Text 396"/>
          <p:cNvSpPr/>
          <p:nvPr/>
        </p:nvSpPr>
        <p:spPr>
          <a:xfrm>
            <a:off x="1773936" y="1993392"/>
            <a:ext cx="338328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with Slack screenshot</a:t>
            </a:r>
            <a:endParaRPr lang="en-US" sz="680" dirty="0"/>
          </a:p>
        </p:txBody>
      </p:sp>
      <p:sp>
        <p:nvSpPr>
          <p:cNvPr id="400" name="Shape 397"/>
          <p:cNvSpPr/>
          <p:nvPr/>
        </p:nvSpPr>
        <p:spPr>
          <a:xfrm>
            <a:off x="5230368" y="2011680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01" name="Shape 398"/>
          <p:cNvSpPr/>
          <p:nvPr/>
        </p:nvSpPr>
        <p:spPr>
          <a:xfrm>
            <a:off x="5349240" y="2011680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02" name="Shape 399"/>
          <p:cNvSpPr/>
          <p:nvPr/>
        </p:nvSpPr>
        <p:spPr>
          <a:xfrm>
            <a:off x="5468112" y="2011680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pic>
        <p:nvPicPr>
          <p:cNvPr id="403" name="Image 0" descr="/Users/fatimasarahkhalid/Sites/_keynotes/agent-craft-2026/deck/assets/placeholders/bubbles-s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2630614"/>
            <a:ext cx="3749040" cy="2108835"/>
          </a:xfrm>
          <a:prstGeom prst="rect">
            <a:avLst/>
          </a:prstGeom>
        </p:spPr>
      </p:pic>
      <p:sp>
        <p:nvSpPr>
          <p:cNvPr id="404" name="Shape 400"/>
          <p:cNvSpPr/>
          <p:nvPr/>
        </p:nvSpPr>
        <p:spPr>
          <a:xfrm>
            <a:off x="1865376" y="4764024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EC4899">
              <a:alpha val="14000"/>
            </a:srgbClr>
          </a:solidFill>
          <a:ln w="12700">
            <a:solidFill>
              <a:srgbClr val="EC4899">
                <a:alpha val="65000"/>
              </a:srgbClr>
            </a:solidFill>
            <a:prstDash val="solid"/>
          </a:ln>
        </p:spPr>
      </p:sp>
      <p:sp>
        <p:nvSpPr>
          <p:cNvPr id="405" name="Text 401"/>
          <p:cNvSpPr/>
          <p:nvPr/>
        </p:nvSpPr>
        <p:spPr>
          <a:xfrm>
            <a:off x="1938528" y="4869180"/>
            <a:ext cx="1088136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IMAGE</a:t>
            </a:r>
            <a:endParaRPr lang="en-US" sz="550" dirty="0"/>
          </a:p>
        </p:txBody>
      </p:sp>
      <p:sp>
        <p:nvSpPr>
          <p:cNvPr id="406" name="Shape 402"/>
          <p:cNvSpPr/>
          <p:nvPr/>
        </p:nvSpPr>
        <p:spPr>
          <a:xfrm>
            <a:off x="6126480" y="1874520"/>
            <a:ext cx="4389120" cy="3291840"/>
          </a:xfrm>
          <a:prstGeom prst="roundRect">
            <a:avLst>
              <a:gd name="adj" fmla="val 1667"/>
            </a:avLst>
          </a:prstGeom>
          <a:solidFill>
            <a:srgbClr val="12183A"/>
          </a:solidFill>
          <a:ln w="12700">
            <a:solidFill>
              <a:srgbClr val="FACC15">
                <a:alpha val="2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sp>
        <p:nvSpPr>
          <p:cNvPr id="407" name="Shape 403"/>
          <p:cNvSpPr/>
          <p:nvPr/>
        </p:nvSpPr>
        <p:spPr>
          <a:xfrm>
            <a:off x="6126480" y="1874520"/>
            <a:ext cx="4389120" cy="365760"/>
          </a:xfrm>
          <a:prstGeom prst="rect">
            <a:avLst/>
          </a:prstGeom>
          <a:solidFill>
            <a:srgbClr val="090D27"/>
          </a:solidFill>
          <a:ln w="12700">
            <a:solidFill>
              <a:srgbClr val="090D27">
                <a:alpha val="0"/>
              </a:srgbClr>
            </a:solidFill>
            <a:prstDash val="solid"/>
          </a:ln>
        </p:spPr>
      </p:sp>
      <p:sp>
        <p:nvSpPr>
          <p:cNvPr id="408" name="Text 404"/>
          <p:cNvSpPr/>
          <p:nvPr/>
        </p:nvSpPr>
        <p:spPr>
          <a:xfrm>
            <a:off x="6291072" y="1993392"/>
            <a:ext cx="374904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memory-loss.incident</a:t>
            </a:r>
            <a:endParaRPr lang="en-US" sz="680" dirty="0"/>
          </a:p>
        </p:txBody>
      </p:sp>
      <p:sp>
        <p:nvSpPr>
          <p:cNvPr id="409" name="Shape 405"/>
          <p:cNvSpPr/>
          <p:nvPr/>
        </p:nvSpPr>
        <p:spPr>
          <a:xfrm>
            <a:off x="10113264" y="2011680"/>
            <a:ext cx="54864" cy="5486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410" name="Shape 406"/>
          <p:cNvSpPr/>
          <p:nvPr/>
        </p:nvSpPr>
        <p:spPr>
          <a:xfrm>
            <a:off x="10232136" y="2011680"/>
            <a:ext cx="54864" cy="5486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>
                <a:alpha val="0"/>
              </a:srgbClr>
            </a:solidFill>
            <a:prstDash val="solid"/>
          </a:ln>
        </p:spPr>
      </p:sp>
      <p:sp>
        <p:nvSpPr>
          <p:cNvPr id="411" name="Shape 407"/>
          <p:cNvSpPr/>
          <p:nvPr/>
        </p:nvSpPr>
        <p:spPr>
          <a:xfrm>
            <a:off x="10351008" y="2011680"/>
            <a:ext cx="54864" cy="5486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sp>
        <p:nvSpPr>
          <p:cNvPr id="412" name="Text 408"/>
          <p:cNvSpPr/>
          <p:nvPr/>
        </p:nvSpPr>
        <p:spPr>
          <a:xfrm>
            <a:off x="6473952" y="2505456"/>
            <a:ext cx="3657600" cy="1773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340" dirty="0">
                <a:solidFill>
                  <a:srgbClr val="FEF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many apps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FEF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polluted context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FEF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stuck in loops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FEF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backup</a:t>
            </a:r>
            <a:endParaRPr lang="en-US" sz="1340" dirty="0"/>
          </a:p>
          <a:p>
            <a:pPr algn="l" indent="0" marL="0">
              <a:buNone/>
            </a:pP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FEF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recovered soul files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FEF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 she had never read the letters</a:t>
            </a:r>
            <a:endParaRPr lang="en-US" sz="1340" dirty="0"/>
          </a:p>
        </p:txBody>
      </p:sp>
      <p:sp>
        <p:nvSpPr>
          <p:cNvPr id="413" name="Shape 409"/>
          <p:cNvSpPr/>
          <p:nvPr/>
        </p:nvSpPr>
        <p:spPr>
          <a:xfrm rot="-60000">
            <a:off x="7479792" y="4800600"/>
            <a:ext cx="2194560" cy="420624"/>
          </a:xfrm>
          <a:prstGeom prst="roundRect">
            <a:avLst>
              <a:gd name="adj" fmla="val 10870"/>
            </a:avLst>
          </a:prstGeom>
          <a:solidFill>
            <a:srgbClr val="EC4899">
              <a:alpha val="16000"/>
            </a:srgbClr>
          </a:solidFill>
          <a:ln w="12700">
            <a:solidFill>
              <a:srgbClr val="EC4899">
                <a:alpha val="88000"/>
              </a:srgbClr>
            </a:solidFill>
            <a:prstDash val="solid"/>
          </a:ln>
        </p:spPr>
      </p:sp>
      <p:sp>
        <p:nvSpPr>
          <p:cNvPr id="414" name="Text 410"/>
          <p:cNvSpPr/>
          <p:nvPr/>
        </p:nvSpPr>
        <p:spPr>
          <a:xfrm rot="-60000">
            <a:off x="7571232" y="4937760"/>
            <a:ext cx="201168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NOT THE SAME AGENT *</a:t>
            </a:r>
            <a:endParaRPr lang="en-US" sz="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Text 392"/>
          <p:cNvSpPr/>
          <p:nvPr/>
        </p:nvSpPr>
        <p:spPr>
          <a:xfrm>
            <a:off x="1572768" y="868680"/>
            <a:ext cx="56692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"what did you build?"</a:t>
            </a:r>
            <a:endParaRPr lang="en-US" sz="2800" dirty="0"/>
          </a:p>
        </p:txBody>
      </p:sp>
      <p:sp>
        <p:nvSpPr>
          <p:cNvPr id="396" name="Text 393"/>
          <p:cNvSpPr/>
          <p:nvPr/>
        </p:nvSpPr>
        <p:spPr>
          <a:xfrm>
            <a:off x="1591056" y="1389888"/>
            <a:ext cx="62179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you should be asking</a:t>
            </a:r>
            <a:endParaRPr lang="en-US" sz="2100" dirty="0"/>
          </a:p>
        </p:txBody>
      </p:sp>
      <p:sp>
        <p:nvSpPr>
          <p:cNvPr id="397" name="Shape 394"/>
          <p:cNvSpPr/>
          <p:nvPr/>
        </p:nvSpPr>
        <p:spPr>
          <a:xfrm>
            <a:off x="1828800" y="2359152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F9A8D4">
              <a:alpha val="96000"/>
            </a:srgbClr>
          </a:solidFill>
          <a:ln w="12700">
            <a:solidFill>
              <a:srgbClr val="F9A8D4">
                <a:alpha val="75000"/>
              </a:srgbClr>
            </a:solidFill>
            <a:prstDash val="solid"/>
          </a:ln>
        </p:spPr>
      </p:sp>
      <p:sp>
        <p:nvSpPr>
          <p:cNvPr id="398" name="Text 395"/>
          <p:cNvSpPr/>
          <p:nvPr/>
        </p:nvSpPr>
        <p:spPr>
          <a:xfrm>
            <a:off x="1993392" y="2523744"/>
            <a:ext cx="332841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broke when real people got hold of it?</a:t>
            </a:r>
            <a:endParaRPr lang="en-US" sz="960" dirty="0"/>
          </a:p>
        </p:txBody>
      </p:sp>
      <p:sp>
        <p:nvSpPr>
          <p:cNvPr id="399" name="Shape 396"/>
          <p:cNvSpPr/>
          <p:nvPr/>
        </p:nvSpPr>
        <p:spPr>
          <a:xfrm>
            <a:off x="6309360" y="2359152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99F6E4">
              <a:alpha val="96000"/>
            </a:srgbClr>
          </a:solidFill>
          <a:ln w="12700">
            <a:solidFill>
              <a:srgbClr val="99F6E4">
                <a:alpha val="75000"/>
              </a:srgbClr>
            </a:solidFill>
            <a:prstDash val="solid"/>
          </a:ln>
        </p:spPr>
      </p:sp>
      <p:sp>
        <p:nvSpPr>
          <p:cNvPr id="400" name="Text 397"/>
          <p:cNvSpPr/>
          <p:nvPr/>
        </p:nvSpPr>
        <p:spPr>
          <a:xfrm>
            <a:off x="6473952" y="2523744"/>
            <a:ext cx="332841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still not trust an agent to do?</a:t>
            </a:r>
            <a:endParaRPr lang="en-US" sz="960" dirty="0"/>
          </a:p>
        </p:txBody>
      </p:sp>
      <p:sp>
        <p:nvSpPr>
          <p:cNvPr id="401" name="Shape 398"/>
          <p:cNvSpPr/>
          <p:nvPr/>
        </p:nvSpPr>
        <p:spPr>
          <a:xfrm>
            <a:off x="1828800" y="3035808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FEF08A">
              <a:alpha val="96000"/>
            </a:srgbClr>
          </a:solidFill>
          <a:ln w="12700">
            <a:solidFill>
              <a:srgbClr val="FEF08A">
                <a:alpha val="75000"/>
              </a:srgbClr>
            </a:solidFill>
            <a:prstDash val="solid"/>
          </a:ln>
        </p:spPr>
      </p:sp>
      <p:sp>
        <p:nvSpPr>
          <p:cNvPr id="402" name="Text 399"/>
          <p:cNvSpPr/>
          <p:nvPr/>
        </p:nvSpPr>
        <p:spPr>
          <a:xfrm>
            <a:off x="1993392" y="3200400"/>
            <a:ext cx="332841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loop have you handed over?</a:t>
            </a:r>
            <a:endParaRPr lang="en-US" sz="960" dirty="0"/>
          </a:p>
        </p:txBody>
      </p:sp>
      <p:sp>
        <p:nvSpPr>
          <p:cNvPr id="403" name="Shape 400"/>
          <p:cNvSpPr/>
          <p:nvPr/>
        </p:nvSpPr>
        <p:spPr>
          <a:xfrm>
            <a:off x="6309360" y="3035808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60A5FA">
              <a:alpha val="96000"/>
            </a:srgbClr>
          </a:solidFill>
          <a:ln w="12700">
            <a:solidFill>
              <a:srgbClr val="60A5FA">
                <a:alpha val="75000"/>
              </a:srgbClr>
            </a:solidFill>
            <a:prstDash val="solid"/>
          </a:ln>
        </p:spPr>
      </p:sp>
      <p:sp>
        <p:nvSpPr>
          <p:cNvPr id="404" name="Text 401"/>
          <p:cNvSpPr/>
          <p:nvPr/>
        </p:nvSpPr>
        <p:spPr>
          <a:xfrm>
            <a:off x="6473952" y="3200400"/>
            <a:ext cx="332841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you still above it?</a:t>
            </a:r>
            <a:endParaRPr lang="en-US" sz="960" dirty="0"/>
          </a:p>
        </p:txBody>
      </p:sp>
      <p:sp>
        <p:nvSpPr>
          <p:cNvPr id="405" name="Shape 402"/>
          <p:cNvSpPr/>
          <p:nvPr/>
        </p:nvSpPr>
        <p:spPr>
          <a:xfrm>
            <a:off x="1828800" y="3712464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C084FC">
              <a:alpha val="96000"/>
            </a:srgbClr>
          </a:solidFill>
          <a:ln w="12700">
            <a:solidFill>
              <a:srgbClr val="C084FC">
                <a:alpha val="75000"/>
              </a:srgbClr>
            </a:solidFill>
            <a:prstDash val="solid"/>
          </a:ln>
        </p:spPr>
      </p:sp>
      <p:sp>
        <p:nvSpPr>
          <p:cNvPr id="406" name="Text 403"/>
          <p:cNvSpPr/>
          <p:nvPr/>
        </p:nvSpPr>
        <p:spPr>
          <a:xfrm>
            <a:off x="1993392" y="3877056"/>
            <a:ext cx="332841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on the other end?</a:t>
            </a:r>
            <a:endParaRPr lang="en-US" sz="960" dirty="0"/>
          </a:p>
        </p:txBody>
      </p:sp>
      <p:sp>
        <p:nvSpPr>
          <p:cNvPr id="407" name="Shape 404"/>
          <p:cNvSpPr/>
          <p:nvPr/>
        </p:nvSpPr>
        <p:spPr>
          <a:xfrm>
            <a:off x="6309360" y="3712464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FFE4E6">
              <a:alpha val="96000"/>
            </a:srgbClr>
          </a:solidFill>
          <a:ln w="12700">
            <a:solidFill>
              <a:srgbClr val="FFE4E6">
                <a:alpha val="75000"/>
              </a:srgbClr>
            </a:solidFill>
            <a:prstDash val="solid"/>
          </a:ln>
        </p:spPr>
      </p:sp>
      <p:sp>
        <p:nvSpPr>
          <p:cNvPr id="408" name="Text 405"/>
          <p:cNvSpPr/>
          <p:nvPr/>
        </p:nvSpPr>
        <p:spPr>
          <a:xfrm>
            <a:off x="6473952" y="3877056"/>
            <a:ext cx="332841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50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anyone else use it?</a:t>
            </a:r>
            <a:endParaRPr lang="en-US" sz="960" dirty="0"/>
          </a:p>
        </p:txBody>
      </p:sp>
      <p:sp>
        <p:nvSpPr>
          <p:cNvPr id="409" name="Shape 406"/>
          <p:cNvSpPr/>
          <p:nvPr/>
        </p:nvSpPr>
        <p:spPr>
          <a:xfrm>
            <a:off x="4251960" y="5440680"/>
            <a:ext cx="3657600" cy="420624"/>
          </a:xfrm>
          <a:prstGeom prst="roundRect">
            <a:avLst>
              <a:gd name="adj" fmla="val 10870"/>
            </a:avLst>
          </a:prstGeom>
          <a:solidFill>
            <a:srgbClr val="2DD4BF">
              <a:alpha val="16000"/>
            </a:srgbClr>
          </a:solidFill>
          <a:ln w="12700">
            <a:solidFill>
              <a:srgbClr val="2DD4BF">
                <a:alpha val="88000"/>
              </a:srgbClr>
            </a:solidFill>
            <a:prstDash val="solid"/>
          </a:ln>
        </p:spPr>
      </p:sp>
      <p:sp>
        <p:nvSpPr>
          <p:cNvPr id="410" name="Text 407"/>
          <p:cNvSpPr/>
          <p:nvPr/>
        </p:nvSpPr>
        <p:spPr>
          <a:xfrm>
            <a:off x="4343400" y="5577840"/>
            <a:ext cx="347472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THE CRAFT IS THE SYSTEM AROUND IT *</a:t>
            </a:r>
            <a:endParaRPr lang="en-US" sz="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4475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4475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475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475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4475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475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4475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366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8366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8366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8366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8366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8366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8366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8366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8366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257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2257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2257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2257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2257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2257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2257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2257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2257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2257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2257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2257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32257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2257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6148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6148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6148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6148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6148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148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6148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148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6148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76148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6148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6148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0040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0040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0040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0040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0040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0040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0040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0040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20040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0040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20040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0040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63931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931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3931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63931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3931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63931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63931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63931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63931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63931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63931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63931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63931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63931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07822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7822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7822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07822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7822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07822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07822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07822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07822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07822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07822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07822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407822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07822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07822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1713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51713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51713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51713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51713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1713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51713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51713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1713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1713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1713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51713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51713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51713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51713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95604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95604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95604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5604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95604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95604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5604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95604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5604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95604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5604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5604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5604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5604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39496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39496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9496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39496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39496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39496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39496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39496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9496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39496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9496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39496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39496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3387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83387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83387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3387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3387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83387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83387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83387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3387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3387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83387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83387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3387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83387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83387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27278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27278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27278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7278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27278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27278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27278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27278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27278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27278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27278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627278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27278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27278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7278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71169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71169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71169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71169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71169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71169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1169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71169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1169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71169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71169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71169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1169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1169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71169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15060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15060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15060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715060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715060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715060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715060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715060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715060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715060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15060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15060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715060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715060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15060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58952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58952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58952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58952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58952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58952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58952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758952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758952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758952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758952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58952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758952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758952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758952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802843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802843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2843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02843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802843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02843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802843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802843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02843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802843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802843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802843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802843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02843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802843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46734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46734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46734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46734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46734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46734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46734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46734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46734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46734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46734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46734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46734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46734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46734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90625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90625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90625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90625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90625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90625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890625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890625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90625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890625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890625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890625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890625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90625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890625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934516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934516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934516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934516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934516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934516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934516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934516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934516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934516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934516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934516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934516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934516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934516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978408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978408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978408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978408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978408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978408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978408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978408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978408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978408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978408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78408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78408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78408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78408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222992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222992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222992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222992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222992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222992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22992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222992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222992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222992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222992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222992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222992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661904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661904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661904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661904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661904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661904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661904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661904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661904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661904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61904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661904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661904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1100816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1100816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1100816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1100816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1100816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1100816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1100816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1100816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1100816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1100816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1100816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1100816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1100816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1100816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1100816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1539728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1539728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1539728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1539728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1539728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1539728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1539728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1539728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11539728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11539728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11539728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1539728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11539728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1539728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11539728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1978640" y="68580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11978640" y="112471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1978640" y="156362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11978640" y="200253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1978640" y="244144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11978640" y="288036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1978640" y="331927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1978640" y="375818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11978640" y="419709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11978640" y="463600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1978640" y="5074920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11978640" y="5513832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11978640" y="5952744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1978640" y="6391656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1978640" y="6830568"/>
            <a:ext cx="10058" cy="10058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0" y="0"/>
            <a:ext cx="1225296" cy="6858000"/>
          </a:xfrm>
          <a:prstGeom prst="rect">
            <a:avLst/>
          </a:prstGeom>
          <a:solidFill>
            <a:srgbClr val="070A2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164592" y="256032"/>
            <a:ext cx="8961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BUREAUCRACY</a:t>
            </a:r>
            <a:endParaRPr lang="en-US" sz="730" dirty="0"/>
          </a:p>
        </p:txBody>
      </p:sp>
      <p:sp>
        <p:nvSpPr>
          <p:cNvPr id="381" name="Text 378"/>
          <p:cNvSpPr/>
          <p:nvPr/>
        </p:nvSpPr>
        <p:spPr>
          <a:xfrm>
            <a:off x="228600" y="6080760"/>
            <a:ext cx="7498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600" dirty="0"/>
          </a:p>
        </p:txBody>
      </p:sp>
      <p:sp>
        <p:nvSpPr>
          <p:cNvPr id="382" name="Shape 379"/>
          <p:cNvSpPr/>
          <p:nvPr/>
        </p:nvSpPr>
        <p:spPr>
          <a:xfrm>
            <a:off x="228600" y="105156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283464" y="116128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endParaRPr lang="en-US" sz="580" dirty="0"/>
          </a:p>
        </p:txBody>
      </p:sp>
      <p:sp>
        <p:nvSpPr>
          <p:cNvPr id="384" name="Shape 381"/>
          <p:cNvSpPr/>
          <p:nvPr/>
        </p:nvSpPr>
        <p:spPr>
          <a:xfrm>
            <a:off x="228600" y="182880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5" name="Text 382"/>
          <p:cNvSpPr/>
          <p:nvPr/>
        </p:nvSpPr>
        <p:spPr>
          <a:xfrm>
            <a:off x="283464" y="193852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580" dirty="0"/>
          </a:p>
        </p:txBody>
      </p:sp>
      <p:sp>
        <p:nvSpPr>
          <p:cNvPr id="386" name="Shape 383"/>
          <p:cNvSpPr/>
          <p:nvPr/>
        </p:nvSpPr>
        <p:spPr>
          <a:xfrm>
            <a:off x="228600" y="260604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7" name="Text 384"/>
          <p:cNvSpPr/>
          <p:nvPr/>
        </p:nvSpPr>
        <p:spPr>
          <a:xfrm>
            <a:off x="283464" y="271576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</a:t>
            </a:r>
            <a:endParaRPr lang="en-US" sz="580" dirty="0"/>
          </a:p>
        </p:txBody>
      </p:sp>
      <p:sp>
        <p:nvSpPr>
          <p:cNvPr id="388" name="Shape 385"/>
          <p:cNvSpPr/>
          <p:nvPr/>
        </p:nvSpPr>
        <p:spPr>
          <a:xfrm>
            <a:off x="228600" y="338328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283464" y="349300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580" dirty="0"/>
          </a:p>
        </p:txBody>
      </p:sp>
      <p:sp>
        <p:nvSpPr>
          <p:cNvPr id="390" name="Shape 387"/>
          <p:cNvSpPr/>
          <p:nvPr/>
        </p:nvSpPr>
        <p:spPr>
          <a:xfrm>
            <a:off x="228600" y="4160520"/>
            <a:ext cx="768096" cy="329184"/>
          </a:xfrm>
          <a:prstGeom prst="roundRect">
            <a:avLst>
              <a:gd name="adj" fmla="val 11111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91" name="Text 388"/>
          <p:cNvSpPr/>
          <p:nvPr/>
        </p:nvSpPr>
        <p:spPr>
          <a:xfrm>
            <a:off x="283464" y="4270248"/>
            <a:ext cx="658368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580" dirty="0"/>
          </a:p>
        </p:txBody>
      </p:sp>
      <p:sp>
        <p:nvSpPr>
          <p:cNvPr id="392" name="Shape 389"/>
          <p:cNvSpPr/>
          <p:nvPr/>
        </p:nvSpPr>
        <p:spPr>
          <a:xfrm>
            <a:off x="1225296" y="0"/>
            <a:ext cx="10966399" cy="512064"/>
          </a:xfrm>
          <a:prstGeom prst="rect">
            <a:avLst/>
          </a:prstGeom>
          <a:solidFill>
            <a:srgbClr val="0A0E27">
              <a:alpha val="9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1499616" y="182880"/>
            <a:ext cx="62179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· DEPT. OF AGENT SYSTEMS · TERMINAL 001</a:t>
            </a:r>
            <a:endParaRPr lang="en-US" sz="650" dirty="0"/>
          </a:p>
        </p:txBody>
      </p:sp>
      <p:sp>
        <p:nvSpPr>
          <p:cNvPr id="394" name="Text 391"/>
          <p:cNvSpPr/>
          <p:nvPr/>
        </p:nvSpPr>
        <p:spPr>
          <a:xfrm>
            <a:off x="10058400" y="182880"/>
            <a:ext cx="148132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CRAFT 2026</a:t>
            </a:r>
            <a:endParaRPr lang="en-US" sz="650" dirty="0"/>
          </a:p>
        </p:txBody>
      </p:sp>
      <p:sp>
        <p:nvSpPr>
          <p:cNvPr id="395" name="Shape 392"/>
          <p:cNvSpPr/>
          <p:nvPr/>
        </p:nvSpPr>
        <p:spPr>
          <a:xfrm>
            <a:off x="1572768" y="859536"/>
            <a:ext cx="4160520" cy="420624"/>
          </a:xfrm>
          <a:prstGeom prst="roundRect">
            <a:avLst>
              <a:gd name="adj" fmla="val 10870"/>
            </a:avLst>
          </a:prstGeom>
          <a:solidFill>
            <a:srgbClr val="2DD4BF">
              <a:alpha val="16000"/>
            </a:srgbClr>
          </a:solidFill>
          <a:ln w="12700">
            <a:solidFill>
              <a:srgbClr val="2DD4BF">
                <a:alpha val="88000"/>
              </a:srgbClr>
            </a:solidFill>
            <a:prstDash val="solid"/>
          </a:ln>
        </p:spPr>
      </p:sp>
      <p:sp>
        <p:nvSpPr>
          <p:cNvPr id="396" name="Text 393"/>
          <p:cNvSpPr/>
          <p:nvPr/>
        </p:nvSpPr>
        <p:spPr>
          <a:xfrm>
            <a:off x="1664208" y="996696"/>
            <a:ext cx="397764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DEPT. OF CELESTIAL INGRESS · TERMINAL 001 *</a:t>
            </a:r>
            <a:endParaRPr lang="en-US" sz="600" dirty="0"/>
          </a:p>
        </p:txBody>
      </p:sp>
      <p:sp>
        <p:nvSpPr>
          <p:cNvPr id="397" name="Text 394"/>
          <p:cNvSpPr/>
          <p:nvPr/>
        </p:nvSpPr>
        <p:spPr>
          <a:xfrm>
            <a:off x="1591056" y="1737360"/>
            <a:ext cx="6217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SPARKLE</a:t>
            </a:r>
            <a:endParaRPr lang="en-US" sz="4400" dirty="0"/>
          </a:p>
        </p:txBody>
      </p:sp>
      <p:sp>
        <p:nvSpPr>
          <p:cNvPr id="398" name="Text 395"/>
          <p:cNvSpPr/>
          <p:nvPr/>
        </p:nvSpPr>
        <p:spPr>
          <a:xfrm>
            <a:off x="1591056" y="2432304"/>
            <a:ext cx="6949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BUREAUCRACY</a:t>
            </a:r>
            <a:endParaRPr lang="en-US" sz="4400" dirty="0"/>
          </a:p>
        </p:txBody>
      </p:sp>
      <p:sp>
        <p:nvSpPr>
          <p:cNvPr id="399" name="Shape 396"/>
          <p:cNvSpPr/>
          <p:nvPr/>
        </p:nvSpPr>
        <p:spPr>
          <a:xfrm>
            <a:off x="1664208" y="3950208"/>
            <a:ext cx="6263640" cy="566928"/>
          </a:xfrm>
          <a:prstGeom prst="roundRect">
            <a:avLst>
              <a:gd name="adj" fmla="val 645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00" name="Text 397"/>
          <p:cNvSpPr/>
          <p:nvPr/>
        </p:nvSpPr>
        <p:spPr>
          <a:xfrm>
            <a:off x="1828800" y="4151376"/>
            <a:ext cx="96012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</a:t>
            </a:r>
            <a:endParaRPr lang="en-US" sz="660" dirty="0"/>
          </a:p>
        </p:txBody>
      </p:sp>
      <p:sp>
        <p:nvSpPr>
          <p:cNvPr id="401" name="Text 398"/>
          <p:cNvSpPr/>
          <p:nvPr/>
        </p:nvSpPr>
        <p:spPr>
          <a:xfrm>
            <a:off x="2944368" y="4078224"/>
            <a:ext cx="4754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 lab of experiments for reimagining systems and who they are for</a:t>
            </a:r>
            <a:endParaRPr lang="en-US" sz="1150" dirty="0"/>
          </a:p>
        </p:txBody>
      </p:sp>
      <p:sp>
        <p:nvSpPr>
          <p:cNvPr id="402" name="Text 399"/>
          <p:cNvSpPr/>
          <p:nvPr/>
        </p:nvSpPr>
        <p:spPr>
          <a:xfrm>
            <a:off x="1682496" y="5394960"/>
            <a:ext cx="29260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500" dirty="0"/>
          </a:p>
        </p:txBody>
      </p:sp>
      <p:pic>
        <p:nvPicPr>
          <p:cNvPr id="403" name="Image 0" descr="/Users/fatimasarahkhalid/Sites/_keynotes/agent-craft-2026/deck/assets/generated/ai-for-the-rest-of-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3140" y="6272784"/>
            <a:ext cx="997527" cy="384048"/>
          </a:xfrm>
          <a:prstGeom prst="rect">
            <a:avLst/>
          </a:prstGeom>
        </p:spPr>
      </p:pic>
      <p:pic>
        <p:nvPicPr>
          <p:cNvPr id="404" name="Image 1" descr="/Users/fatimasarahkhalid/Sites/_keynotes/agent-craft-2026/deck/assets/raw/brainstation-st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6435921"/>
            <a:ext cx="786384" cy="130926"/>
          </a:xfrm>
          <a:prstGeom prst="rect">
            <a:avLst/>
          </a:prstGeom>
        </p:spPr>
      </p:pic>
      <p:sp>
        <p:nvSpPr>
          <p:cNvPr id="405" name="Text 400"/>
          <p:cNvSpPr/>
          <p:nvPr/>
        </p:nvSpPr>
        <p:spPr>
          <a:xfrm>
            <a:off x="1499616" y="6556248"/>
            <a:ext cx="5486400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6F78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Sparkle Bureaucracy styling from sugaroverflow/sparkle-bureaucracy-site.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AI for the rest of 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Craft keynote</dc:title>
  <dc:subject>The Agent Hype Is Real. So Is the Mess.</dc:subject>
  <dc:creator>Agent Craft 2026</dc:creator>
  <cp:lastModifiedBy>Agent Craft 2026</cp:lastModifiedBy>
  <cp:revision>1</cp:revision>
  <dcterms:created xsi:type="dcterms:W3CDTF">2026-06-11T21:21:48Z</dcterms:created>
  <dcterms:modified xsi:type="dcterms:W3CDTF">2026-06-11T21:21:48Z</dcterms:modified>
</cp:coreProperties>
</file>